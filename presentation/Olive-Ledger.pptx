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2a045fdcc9e4c60" /><Relationship Type="http://schemas.openxmlformats.org/officeDocument/2006/relationships/extended-properties" Target="/docProps/app.xml" Id="R84c797e972d748a1" /><Relationship Type="http://schemas.openxmlformats.org/officeDocument/2006/relationships/officeDocument" Target="/ppt/presentation.xml" Id="R0e3bf272bd104c49" /></Relationships>
</file>

<file path=ppt/presentation.xml><?xml version="1.0" encoding="utf-8"?>
<p:presentation xmlns:p="http://schemas.openxmlformats.org/presentationml/2006/main">
  <p:sldMasterIdLst>
    <p:sldMasterId xmlns:r="http://schemas.openxmlformats.org/officeDocument/2006/relationships" id="2147483648" r:id="Rf20187f3071341e2"/>
  </p:sldMasterIdLst>
  <p:notesMasterIdLst>
    <p:notesMasterId xmlns:r="http://schemas.openxmlformats.org/officeDocument/2006/relationships" r:id="Rc75dd518f408447c"/>
  </p:notesMasterIdLst>
  <p:sldIdLst>
    <p:sldId xmlns:r="http://schemas.openxmlformats.org/officeDocument/2006/relationships" id="256" r:id="Rcc3e870f5e674b0e"/>
    <p:sldId xmlns:r="http://schemas.openxmlformats.org/officeDocument/2006/relationships" id="257" r:id="Rf3c79787e23b4aee"/>
    <p:sldId xmlns:r="http://schemas.openxmlformats.org/officeDocument/2006/relationships" id="258" r:id="R82e96fb1dafb4dc7"/>
    <p:sldId xmlns:r="http://schemas.openxmlformats.org/officeDocument/2006/relationships" id="259" r:id="R50919de7a9214e89"/>
    <p:sldId xmlns:r="http://schemas.openxmlformats.org/officeDocument/2006/relationships" id="260" r:id="R10997a3f8db04b3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fea2242b75e4aa1" /><Relationship Type="http://schemas.openxmlformats.org/officeDocument/2006/relationships/slideMaster" Target="/ppt/slideMasters/slideMaster1.xml" Id="Rf20187f3071341e2" /><Relationship Type="http://schemas.openxmlformats.org/officeDocument/2006/relationships/notesMaster" Target="/ppt/notesMasters/notesMaster1.xml" Id="Rc75dd518f408447c" /><Relationship Type="http://schemas.openxmlformats.org/officeDocument/2006/relationships/presProps" Target="/ppt/presProps.xml" Id="R926598696d2d4260" /><Relationship Type="http://schemas.openxmlformats.org/officeDocument/2006/relationships/tableStyles" Target="/ppt/tableStyles.xml" Id="R8c7149954f1f4805" /><Relationship Type="http://schemas.openxmlformats.org/officeDocument/2006/relationships/slide" Target="/ppt/slides/slide1.xml" Id="Rcc3e870f5e674b0e" /><Relationship Type="http://schemas.openxmlformats.org/officeDocument/2006/relationships/slide" Target="/ppt/slides/slide2.xml" Id="Rf3c79787e23b4aee" /><Relationship Type="http://schemas.openxmlformats.org/officeDocument/2006/relationships/slide" Target="/ppt/slides/slide3.xml" Id="R82e96fb1dafb4dc7" /><Relationship Type="http://schemas.openxmlformats.org/officeDocument/2006/relationships/slide" Target="/ppt/slides/slide4.xml" Id="R50919de7a9214e89" /><Relationship Type="http://schemas.openxmlformats.org/officeDocument/2006/relationships/slide" Target="/ppt/slides/slide5.xml" Id="R10997a3f8db04b3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f35a1424ef54b4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3c7321af58643a5" /><Relationship Type="http://schemas.openxmlformats.org/officeDocument/2006/relationships/notesMaster" Target="/ppt/notesMasters/notesMaster1.xml" Id="R9e2f08254cf64cf2" /></Relationships>
</file>

<file path=ppt/notesSlides/_rels/notesSlide2.xml.rels>&#65279;<?xml version="1.0" encoding="utf-8"?><Relationships xmlns="http://schemas.openxmlformats.org/package/2006/relationships"><Relationship Type="http://schemas.openxmlformats.org/officeDocument/2006/relationships/slide" Target="/ppt/slides/slide2.xml" Id="R0dddaea012d84606" /><Relationship Type="http://schemas.openxmlformats.org/officeDocument/2006/relationships/notesMaster" Target="/ppt/notesMasters/notesMaster1.xml" Id="R7bf33dcf689941ea" /></Relationships>
</file>

<file path=ppt/notesSlides/_rels/notesSlide3.xml.rels>&#65279;<?xml version="1.0" encoding="utf-8"?><Relationships xmlns="http://schemas.openxmlformats.org/package/2006/relationships"><Relationship Type="http://schemas.openxmlformats.org/officeDocument/2006/relationships/slide" Target="/ppt/slides/slide3.xml" Id="R1475d8afef484cc1" /><Relationship Type="http://schemas.openxmlformats.org/officeDocument/2006/relationships/notesMaster" Target="/ppt/notesMasters/notesMaster1.xml" Id="R3e3eb46991ff4877" /></Relationships>
</file>

<file path=ppt/notesSlides/_rels/notesSlide4.xml.rels>&#65279;<?xml version="1.0" encoding="utf-8"?><Relationships xmlns="http://schemas.openxmlformats.org/package/2006/relationships"><Relationship Type="http://schemas.openxmlformats.org/officeDocument/2006/relationships/slide" Target="/ppt/slides/slide4.xml" Id="R0a194abc3bc443a0" /><Relationship Type="http://schemas.openxmlformats.org/officeDocument/2006/relationships/notesMaster" Target="/ppt/notesMasters/notesMaster1.xml" Id="Reb96c9d464c74377" /></Relationships>
</file>

<file path=ppt/notesSlides/_rels/notesSlide5.xml.rels>&#65279;<?xml version="1.0" encoding="utf-8"?><Relationships xmlns="http://schemas.openxmlformats.org/package/2006/relationships"><Relationship Type="http://schemas.openxmlformats.org/officeDocument/2006/relationships/slide" Target="/ppt/slides/slide5.xml" Id="R41cbaa4d97a54a91" /><Relationship Type="http://schemas.openxmlformats.org/officeDocument/2006/relationships/notesMaster" Target="/ppt/notesMasters/notesMaster1.xml" Id="Rfbf2f84a422643f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Olive Ledger helps students understand where their allowance goes and notice overspending early. It combines a white and olive interface with a Python backend, and also works through the command line.</a:t>
            </a:r>
          </a:p>
          <a:p xmlns:a="http://schemas.openxmlformats.org/drawingml/2006/main">
            <a:r>
              <a:t/>
            </a:r>
          </a:p>
          <a:p xmlns:a="http://schemas.openxmlformats.org/drawingml/2006/main">
            <a:r>
              <a:t>Sources: User-provided team names and IDs.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Users record income and expenses, choose payment methods, and set monthly or category budgets. The dashboard shows remaining money, spending patterns, and explained alerts. These screenshots use clearly labelled fictional demo data.</a:t>
            </a:r>
          </a:p>
          <a:p xmlns:a="http://schemas.openxmlformats.org/drawingml/2006/main">
            <a:r>
              <a:t/>
            </a:r>
          </a:p>
          <a:p xmlns:a="http://schemas.openxmlformats.org/drawingml/2006/main">
            <a:r>
              <a:t>Sources: Actual local application screenshot; fictional October 2026 data created by launch.py. UI-UX_Design.pdf, pages 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architecture separates the interface, business rules, and storage. FastAPI and the argparse CLI call the same service functions, so validation and calculations behave consistently. This connects our project to functions, modules, dictionaries, and professional script structure from class.</a:t>
            </a:r>
          </a:p>
          <a:p xmlns:a="http://schemas.openxmlformats.org/drawingml/2006/main">
            <a:r>
              <a:t/>
            </a:r>
          </a:p>
          <a:p xmlns:a="http://schemas.openxmlformats.org/drawingml/2006/main">
            <a:r>
              <a:t>Sources: backend/main.py; backend/routes.py; backend/services.py; cli.py. Course Week 3: functions, dictionaries, argparse and main guard. Diagram simplifies the repository/Database split.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convert validated decimal amounts into integer cents, so adding point one and point two gives exactly thirty cents. SQL parameters keep user input separate from queries. A transaction saves the record and its alerts together, and database constraints reject invalid relationships.</a:t>
            </a:r>
          </a:p>
          <a:p xmlns:a="http://schemas.openxmlformats.org/drawingml/2006/main">
            <a:r>
              <a:t/>
            </a:r>
          </a:p>
          <a:p xmlns:a="http://schemas.openxmlformats.org/drawingml/2006/main">
            <a:r>
              <a:t>Sources: backend/validation.py money(): shortened error message for slide readability. backend/database.py; backend/repository.py; backend/services.py. Decimal snippet is an excerpt and omits additional validation checks.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unusual expense must exceed twice its category average, using at least three previous expenses. The current expense never enters its own baseline. Budget alerts fire once at eighty and one hundred percent. Thirty automated tests cover invalid inputs, persistence, concurrency, and reports. The repository includes the CLI and setup instructions.</a:t>
            </a:r>
          </a:p>
          <a:p xmlns:a="http://schemas.openxmlformats.org/drawingml/2006/main">
            <a:r>
              <a:t/>
            </a:r>
          </a:p>
          <a:p xmlns:a="http://schemas.openxmlformats.org/drawingml/2006/main">
            <a:r>
              <a:t>Sources: backend/services.py _unusual(): pseudocode renames item["amount_cents"] to amount_cents and shows the flagging action as a named helper for readability. _budget_alerts(). tests/test_backend.py: 30 tests passed before slide authoring. Repository URL supplied by user; latest local changes require a push.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797c21c67d1491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47870245cf4403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06d8dfaa6ab4a3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dbadb33898d4fe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7cb0b36cda7471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2359e952413427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D23A068-BF8F-40FB-8738-A6C602B3E95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E07166E-3D37-401A-BC4E-501312345AA8}"/>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D17BCD3-1F4F-4D13-B460-C965FA64A11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033749A-1D90-43D1-895C-370E4C9789C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9E3A2E5-F0E5-4A9F-8138-0198C2221BA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6D17ACE-0D21-42EE-8700-8A48875EB69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093FA29-4CD5-4B8D-8249-389C10EF369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B086488-9794-4275-8C53-2287E71DA36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40406B2-4BD6-4F2A-9DF7-BC62F149526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5A0C383-DCAC-4BAF-801B-1A29EE53942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80ca0e1adfc42f5" /><Relationship Type="http://schemas.openxmlformats.org/officeDocument/2006/relationships/slideLayout" Target="/ppt/slideLayouts/slideLayout1.xml" Id="R0e8f362bd1884f73" /><Relationship Type="http://schemas.openxmlformats.org/officeDocument/2006/relationships/slideLayout" Target="/ppt/slideLayouts/slideLayout2.xml" Id="Rb5b75af7f8044450" /><Relationship Type="http://schemas.openxmlformats.org/officeDocument/2006/relationships/slideLayout" Target="/ppt/slideLayouts/slideLayout3.xml" Id="Rdd9bf6a0f6574619" /><Relationship Type="http://schemas.openxmlformats.org/officeDocument/2006/relationships/slideLayout" Target="/ppt/slideLayouts/slideLayout4.xml" Id="Rb559a42fdec34d2f" /><Relationship Type="http://schemas.openxmlformats.org/officeDocument/2006/relationships/slideLayout" Target="/ppt/slideLayouts/slideLayout5.xml" Id="Rc0c6054dab1a411c" /><Relationship Type="http://schemas.openxmlformats.org/officeDocument/2006/relationships/slideLayout" Target="/ppt/slideLayouts/slideLayout6.xml" Id="R7662a9ebd2744d9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e8f362bd1884f73"/>
    <p:sldLayoutId xmlns:r="http://schemas.openxmlformats.org/officeDocument/2006/relationships" id="2147483650" r:id="Rb5b75af7f8044450"/>
    <p:sldLayoutId xmlns:r="http://schemas.openxmlformats.org/officeDocument/2006/relationships" id="2147483651" r:id="Rdd9bf6a0f6574619"/>
    <p:sldLayoutId xmlns:r="http://schemas.openxmlformats.org/officeDocument/2006/relationships" id="2147483652" r:id="Rb559a42fdec34d2f"/>
    <p:sldLayoutId xmlns:r="http://schemas.openxmlformats.org/officeDocument/2006/relationships" id="2147483653" r:id="Rc0c6054dab1a411c"/>
    <p:sldLayoutId xmlns:r="http://schemas.openxmlformats.org/officeDocument/2006/relationships" id="2147483654" r:id="R7662a9ebd2744d9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6e6544ddbdb4e50" /><Relationship Type="http://schemas.openxmlformats.org/officeDocument/2006/relationships/notesSlide" Target="/ppt/notesSlides/notesSlide1.xml" Id="R6203b7e93625425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b82c0d3c4f947ab" /><Relationship Type="http://schemas.openxmlformats.org/officeDocument/2006/relationships/image" Target="/ppt/media/image.jpeg" Id="Rca2a7747c5914e93" /><Relationship Type="http://schemas.openxmlformats.org/officeDocument/2006/relationships/notesSlide" Target="/ppt/notesSlides/notesSlide2.xml" Id="R4ccb3ad5d0664ad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df555f4600e4451" /><Relationship Type="http://schemas.openxmlformats.org/officeDocument/2006/relationships/notesSlide" Target="/ppt/notesSlides/notesSlide3.xml" Id="Rbb54373664ac49d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3d58a5de5f54117" /><Relationship Type="http://schemas.openxmlformats.org/officeDocument/2006/relationships/notesSlide" Target="/ppt/notesSlides/notesSlide4.xml" Id="Rc08c1a723c5c45b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298dae6b28e4ea2" /><Relationship Type="http://schemas.openxmlformats.org/officeDocument/2006/relationships/notesSlide" Target="/ppt/notesSlides/notesSlide5.xml" Id="R4c945bf8119a40c7"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F1949E2-481A-41EA-9755-D454341C1BF6}"/>
              </a:ext>
            </a:extLst>
          </p:cNvPr>
          <p:cNvSpPr>
            <a:spLocks xmlns:a="http://schemas.openxmlformats.org/drawingml/2006/main" noGrp="1"/>
          </p:cNvSpPr>
          <p:nvPr/>
        </p:nvSpPr>
        <p:spPr>
          <a:xfrm xmlns:a="http://schemas.openxmlformats.org/drawingml/2006/main">
            <a:off x="609600" y="457200"/>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263322"/>
                </a:solidFill>
                <a:latin typeface="Segoe UI"/>
                <a:ea typeface="Segoe UI"/>
                <a:cs typeface="Segoe UI"/>
              </a:defRPr>
            </a:defPPr>
          </a:lstStyle>
          <a:p xmlns:a="http://schemas.openxmlformats.org/drawingml/2006/main">
            <a:pPr>
              <a:defRPr sz="3300" b="1">
                <a:solidFill>
                  <a:srgbClr val="263322"/>
                </a:solidFill>
                <a:latin typeface="Segoe UI"/>
                <a:ea typeface="Segoe UI"/>
                <a:cs typeface="Segoe UI"/>
              </a:defRPr>
            </a:pPr>
            <a:r>
              <a:rPr sz="3300" b="1">
                <a:solidFill>
                  <a:srgbClr val="263322"/>
                </a:solidFill>
                <a:latin typeface="Segoe UI"/>
                <a:ea typeface="Segoe UI"/>
                <a:cs typeface="Segoe UI"/>
              </a:rPr>
              <a:t>Olive Ledger</a:t>
            </a:r>
          </a:p>
        </p:txBody>
      </p:sp>
      <p:sp>
        <p:nvSpPr>
          <p:cNvPr id="2" name="">
            <a:extLst xmlns:a="http://schemas.openxmlformats.org/drawingml/2006/main">
              <a:ext uri="{FF2B5EF4-FFF2-40B4-BE49-F238E27FC236}">
                <a16:creationId xmlns:a16="http://schemas.microsoft.com/office/drawing/2014/main" id="{C935CEA7-941C-4CB3-905A-680882DC702B}"/>
              </a:ext>
            </a:extLst>
          </p:cNvPr>
          <p:cNvSpPr>
            <a:spLocks xmlns:a="http://schemas.openxmlformats.org/drawingml/2006/main" noGrp="1"/>
          </p:cNvSpPr>
          <p:nvPr/>
        </p:nvSpPr>
        <p:spPr>
          <a:xfrm xmlns:a="http://schemas.openxmlformats.org/drawingml/2006/main">
            <a:off x="609600" y="6334125"/>
            <a:ext cx="476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586744"/>
                </a:solidFill>
                <a:latin typeface="Segoe UI"/>
                <a:ea typeface="Segoe UI"/>
                <a:cs typeface="Segoe UI"/>
              </a:defRPr>
            </a:defPPr>
          </a:lstStyle>
          <a:p xmlns:a="http://schemas.openxmlformats.org/drawingml/2006/main">
            <a:pPr>
              <a:defRPr sz="1200" b="1">
                <a:solidFill>
                  <a:srgbClr val="586744"/>
                </a:solidFill>
                <a:latin typeface="Segoe UI"/>
                <a:ea typeface="Segoe UI"/>
                <a:cs typeface="Segoe UI"/>
              </a:defRPr>
            </a:pPr>
            <a:r>
              <a:rPr sz="1200" b="1">
                <a:solidFill>
                  <a:srgbClr val="586744"/>
                </a:solidFill>
                <a:latin typeface="Segoe UI"/>
                <a:ea typeface="Segoe UI"/>
                <a:cs typeface="Segoe UI"/>
              </a:rPr>
              <a:t>OLIVE LEDGER</a:t>
            </a:r>
          </a:p>
        </p:txBody>
      </p:sp>
      <p:sp>
        <p:nvSpPr>
          <p:cNvPr id="3" name="">
            <a:extLst xmlns:a="http://schemas.openxmlformats.org/drawingml/2006/main">
              <a:ext uri="{FF2B5EF4-FFF2-40B4-BE49-F238E27FC236}">
                <a16:creationId xmlns:a16="http://schemas.microsoft.com/office/drawing/2014/main" id="{66F474E7-5D62-4A49-810F-96BD40C9DF70}"/>
              </a:ext>
            </a:extLst>
          </p:cNvPr>
          <p:cNvSpPr>
            <a:spLocks xmlns:a="http://schemas.openxmlformats.org/drawingml/2006/main" noGrp="1"/>
          </p:cNvSpPr>
          <p:nvPr/>
        </p:nvSpPr>
        <p:spPr>
          <a:xfrm xmlns:a="http://schemas.openxmlformats.org/drawingml/2006/main">
            <a:off x="11049000" y="63341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F7868"/>
                </a:solidFill>
                <a:latin typeface="Segoe UI"/>
                <a:ea typeface="Segoe UI"/>
                <a:cs typeface="Segoe UI"/>
              </a:defRPr>
            </a:defPPr>
          </a:lstStyle>
          <a:p xmlns:a="http://schemas.openxmlformats.org/drawingml/2006/main">
            <a:pPr>
              <a:defRPr sz="1200" b="0">
                <a:solidFill>
                  <a:srgbClr val="6F7868"/>
                </a:solidFill>
                <a:latin typeface="Segoe UI"/>
                <a:ea typeface="Segoe UI"/>
                <a:cs typeface="Segoe UI"/>
              </a:defRPr>
            </a:pPr>
            <a:r>
              <a:rPr sz="1200" b="0">
                <a:solidFill>
                  <a:srgbClr val="6F7868"/>
                </a:solidFill>
                <a:latin typeface="Segoe UI"/>
                <a:ea typeface="Segoe UI"/>
                <a:cs typeface="Segoe UI"/>
              </a:rPr>
              <a:t>01</a:t>
            </a:r>
          </a:p>
        </p:txBody>
      </p:sp>
      <p:sp>
        <p:nvSpPr>
          <p:cNvPr id="4" name="">
            <a:extLst xmlns:a="http://schemas.openxmlformats.org/drawingml/2006/main">
              <a:ext uri="{FF2B5EF4-FFF2-40B4-BE49-F238E27FC236}">
                <a16:creationId xmlns:a16="http://schemas.microsoft.com/office/drawing/2014/main" id="{97D0C3D1-8ECA-46F2-8526-30912FD31CDB}"/>
              </a:ext>
            </a:extLst>
          </p:cNvPr>
          <p:cNvSpPr>
            <a:spLocks xmlns:a="http://schemas.openxmlformats.org/drawingml/2006/main" noGrp="1"/>
          </p:cNvSpPr>
          <p:nvPr/>
        </p:nvSpPr>
        <p:spPr>
          <a:xfrm xmlns:a="http://schemas.openxmlformats.org/drawingml/2006/main">
            <a:off x="628650" y="147637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750" b="0">
                <a:solidFill>
                  <a:srgbClr val="586744"/>
                </a:solidFill>
                <a:latin typeface="Segoe UI"/>
                <a:ea typeface="Segoe UI"/>
                <a:cs typeface="Segoe UI"/>
              </a:defRPr>
            </a:defPPr>
          </a:lstStyle>
          <a:p xmlns:a="http://schemas.openxmlformats.org/drawingml/2006/main">
            <a:pPr>
              <a:defRPr sz="3750" b="0">
                <a:solidFill>
                  <a:srgbClr val="586744"/>
                </a:solidFill>
                <a:latin typeface="Segoe UI"/>
                <a:ea typeface="Segoe UI"/>
                <a:cs typeface="Segoe UI"/>
              </a:defRPr>
            </a:pPr>
            <a:r>
              <a:rPr sz="3750" b="0">
                <a:solidFill>
                  <a:srgbClr val="586744"/>
                </a:solidFill>
                <a:latin typeface="Segoe UI"/>
                <a:ea typeface="Segoe UI"/>
                <a:cs typeface="Segoe UI"/>
              </a:rPr>
              <a:t>Smart Expense Manager</a:t>
            </a:r>
          </a:p>
        </p:txBody>
      </p:sp>
      <p:sp>
        <p:nvSpPr>
          <p:cNvPr id="5" name="">
            <a:extLst xmlns:a="http://schemas.openxmlformats.org/drawingml/2006/main">
              <a:ext uri="{FF2B5EF4-FFF2-40B4-BE49-F238E27FC236}">
                <a16:creationId xmlns:a16="http://schemas.microsoft.com/office/drawing/2014/main" id="{FEFB9F1C-44A8-4BB9-A6B4-B03857B4CA72}"/>
              </a:ext>
            </a:extLst>
          </p:cNvPr>
          <p:cNvSpPr>
            <a:spLocks xmlns:a="http://schemas.openxmlformats.org/drawingml/2006/main" noGrp="1"/>
          </p:cNvSpPr>
          <p:nvPr/>
        </p:nvSpPr>
        <p:spPr>
          <a:xfrm xmlns:a="http://schemas.openxmlformats.org/drawingml/2006/main">
            <a:off x="628650" y="2266950"/>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6F7868"/>
                </a:solidFill>
                <a:latin typeface="Segoe UI"/>
                <a:ea typeface="Segoe UI"/>
                <a:cs typeface="Segoe UI"/>
              </a:defRPr>
            </a:defPPr>
          </a:lstStyle>
          <a:p xmlns:a="http://schemas.openxmlformats.org/drawingml/2006/main">
            <a:pPr>
              <a:defRPr sz="2250" b="0">
                <a:solidFill>
                  <a:srgbClr val="6F7868"/>
                </a:solidFill>
                <a:latin typeface="Segoe UI"/>
                <a:ea typeface="Segoe UI"/>
                <a:cs typeface="Segoe UI"/>
              </a:defRPr>
            </a:pPr>
            <a:r>
              <a:rPr sz="2250" b="0">
                <a:solidFill>
                  <a:srgbClr val="6F7868"/>
                </a:solidFill>
                <a:latin typeface="Segoe UI"/>
                <a:ea typeface="Segoe UI"/>
                <a:cs typeface="Segoe UI"/>
              </a:rPr>
              <a:t>A clearer picture of student spending</a:t>
            </a:r>
          </a:p>
        </p:txBody>
      </p:sp>
      <p:sp>
        <p:nvSpPr>
          <p:cNvPr id="6" name="">
            <a:extLst xmlns:a="http://schemas.openxmlformats.org/drawingml/2006/main">
              <a:ext uri="{FF2B5EF4-FFF2-40B4-BE49-F238E27FC236}">
                <a16:creationId xmlns:a16="http://schemas.microsoft.com/office/drawing/2014/main" id="{68D86C39-999B-4704-BFAF-B664914463BD}"/>
              </a:ext>
            </a:extLst>
          </p:cNvPr>
          <p:cNvSpPr>
            <a:spLocks xmlns:a="http://schemas.openxmlformats.org/drawingml/2006/main" noGrp="1"/>
          </p:cNvSpPr>
          <p:nvPr/>
        </p:nvSpPr>
        <p:spPr>
          <a:xfrm xmlns:a="http://schemas.openxmlformats.org/drawingml/2006/main">
            <a:off x="628650" y="2962275"/>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6F7868"/>
                </a:solidFill>
                <a:latin typeface="Segoe UI"/>
                <a:ea typeface="Segoe UI"/>
                <a:cs typeface="Segoe UI"/>
              </a:defRPr>
            </a:defPPr>
          </a:lstStyle>
          <a:p xmlns:a="http://schemas.openxmlformats.org/drawingml/2006/main">
            <a:pPr>
              <a:defRPr sz="1725" b="0">
                <a:solidFill>
                  <a:srgbClr val="6F7868"/>
                </a:solidFill>
                <a:latin typeface="Segoe UI"/>
                <a:ea typeface="Segoe UI"/>
                <a:cs typeface="Segoe UI"/>
              </a:defRPr>
            </a:pPr>
            <a:r>
              <a:rPr sz="1725" b="0">
                <a:solidFill>
                  <a:srgbClr val="6F7868"/>
                </a:solidFill>
                <a:latin typeface="Segoe UI"/>
                <a:ea typeface="Segoe UI"/>
                <a:cs typeface="Segoe UI"/>
              </a:rPr>
              <a:t>COE203 · Advanced Python · Project 1</a:t>
            </a:r>
          </a:p>
        </p:txBody>
      </p:sp>
      <p:sp>
        <p:nvSpPr>
          <p:cNvPr id="7" name="">
            <a:extLst xmlns:a="http://schemas.openxmlformats.org/drawingml/2006/main">
              <a:ext uri="{FF2B5EF4-FFF2-40B4-BE49-F238E27FC236}">
                <a16:creationId xmlns:a16="http://schemas.microsoft.com/office/drawing/2014/main" id="{578470E1-8941-42B2-8495-3CD5889532E1}"/>
              </a:ext>
            </a:extLst>
          </p:cNvPr>
          <p:cNvSpPr>
            <a:spLocks xmlns:a="http://schemas.openxmlformats.org/drawingml/2006/main" noGrp="1"/>
          </p:cNvSpPr>
          <p:nvPr/>
        </p:nvSpPr>
        <p:spPr>
          <a:xfrm xmlns:a="http://schemas.openxmlformats.org/drawingml/2006/main">
            <a:off x="628650" y="3638550"/>
            <a:ext cx="10572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263322"/>
                </a:solidFill>
                <a:latin typeface="Segoe UI"/>
                <a:ea typeface="Segoe UI"/>
                <a:cs typeface="Segoe UI"/>
              </a:defRPr>
            </a:defPPr>
          </a:lstStyle>
          <a:p xmlns:a="http://schemas.openxmlformats.org/drawingml/2006/main">
            <a:pPr>
              <a:defRPr sz="1725" b="0">
                <a:solidFill>
                  <a:srgbClr val="263322"/>
                </a:solidFill>
                <a:latin typeface="Segoe UI"/>
                <a:ea typeface="Segoe UI"/>
                <a:cs typeface="Segoe UI"/>
              </a:defRPr>
            </a:pPr>
            <a:r>
              <a:rPr sz="1725" b="0">
                <a:solidFill>
                  <a:srgbClr val="263322"/>
                </a:solidFill>
                <a:latin typeface="Segoe UI"/>
                <a:ea typeface="Segoe UI"/>
                <a:cs typeface="Segoe UI"/>
              </a:rPr>
              <a:t>Mohannad Turkman  220911358</a:t>
            </a:r>
          </a:p>
        </p:txBody>
      </p:sp>
      <p:sp>
        <p:nvSpPr>
          <p:cNvPr id="8" name="">
            <a:extLst xmlns:a="http://schemas.openxmlformats.org/drawingml/2006/main">
              <a:ext uri="{FF2B5EF4-FFF2-40B4-BE49-F238E27FC236}">
                <a16:creationId xmlns:a16="http://schemas.microsoft.com/office/drawing/2014/main" id="{AC300AE1-7692-4EC3-94E1-81086FFDEE39}"/>
              </a:ext>
            </a:extLst>
          </p:cNvPr>
          <p:cNvSpPr>
            <a:spLocks xmlns:a="http://schemas.openxmlformats.org/drawingml/2006/main" noGrp="1"/>
          </p:cNvSpPr>
          <p:nvPr/>
        </p:nvSpPr>
        <p:spPr>
          <a:xfrm xmlns:a="http://schemas.openxmlformats.org/drawingml/2006/main">
            <a:off x="628650" y="4048125"/>
            <a:ext cx="10572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263322"/>
                </a:solidFill>
                <a:latin typeface="Segoe UI"/>
                <a:ea typeface="Segoe UI"/>
                <a:cs typeface="Segoe UI"/>
              </a:defRPr>
            </a:defPPr>
          </a:lstStyle>
          <a:p xmlns:a="http://schemas.openxmlformats.org/drawingml/2006/main">
            <a:pPr>
              <a:defRPr sz="1725" b="0">
                <a:solidFill>
                  <a:srgbClr val="263322"/>
                </a:solidFill>
                <a:latin typeface="Segoe UI"/>
                <a:ea typeface="Segoe UI"/>
                <a:cs typeface="Segoe UI"/>
              </a:defRPr>
            </a:pPr>
            <a:r>
              <a:rPr sz="1725" b="0">
                <a:solidFill>
                  <a:srgbClr val="263322"/>
                </a:solidFill>
                <a:latin typeface="Segoe UI"/>
                <a:ea typeface="Segoe UI"/>
                <a:cs typeface="Segoe UI"/>
              </a:rPr>
              <a:t>Rahaf Elnazier Ali  2305025319</a:t>
            </a:r>
          </a:p>
        </p:txBody>
      </p:sp>
      <p:sp>
        <p:nvSpPr>
          <p:cNvPr id="9" name="">
            <a:extLst xmlns:a="http://schemas.openxmlformats.org/drawingml/2006/main">
              <a:ext uri="{FF2B5EF4-FFF2-40B4-BE49-F238E27FC236}">
                <a16:creationId xmlns:a16="http://schemas.microsoft.com/office/drawing/2014/main" id="{20F56822-782A-4411-BC1B-BB2E34F63AEC}"/>
              </a:ext>
            </a:extLst>
          </p:cNvPr>
          <p:cNvSpPr>
            <a:spLocks xmlns:a="http://schemas.openxmlformats.org/drawingml/2006/main" noGrp="1"/>
          </p:cNvSpPr>
          <p:nvPr/>
        </p:nvSpPr>
        <p:spPr>
          <a:xfrm xmlns:a="http://schemas.openxmlformats.org/drawingml/2006/main">
            <a:off x="628650" y="4457700"/>
            <a:ext cx="10572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263322"/>
                </a:solidFill>
                <a:latin typeface="Segoe UI"/>
                <a:ea typeface="Segoe UI"/>
                <a:cs typeface="Segoe UI"/>
              </a:defRPr>
            </a:defPPr>
          </a:lstStyle>
          <a:p xmlns:a="http://schemas.openxmlformats.org/drawingml/2006/main">
            <a:pPr>
              <a:defRPr sz="1725" b="0">
                <a:solidFill>
                  <a:srgbClr val="263322"/>
                </a:solidFill>
                <a:latin typeface="Segoe UI"/>
                <a:ea typeface="Segoe UI"/>
                <a:cs typeface="Segoe UI"/>
              </a:defRPr>
            </a:pPr>
            <a:r>
              <a:rPr sz="1725" b="0">
                <a:solidFill>
                  <a:srgbClr val="263322"/>
                </a:solidFill>
                <a:latin typeface="Segoe UI"/>
                <a:ea typeface="Segoe UI"/>
                <a:cs typeface="Segoe UI"/>
              </a:rPr>
              <a:t>Abdullah Al Shawaf  2309116128</a:t>
            </a:r>
          </a:p>
        </p:txBody>
      </p:sp>
      <p:sp>
        <p:nvSpPr>
          <p:cNvPr id="10" name="">
            <a:extLst xmlns:a="http://schemas.openxmlformats.org/drawingml/2006/main">
              <a:ext uri="{FF2B5EF4-FFF2-40B4-BE49-F238E27FC236}">
                <a16:creationId xmlns:a16="http://schemas.microsoft.com/office/drawing/2014/main" id="{54E2E32E-DDF4-499C-8E43-84F0763A8B19}"/>
              </a:ext>
            </a:extLst>
          </p:cNvPr>
          <p:cNvSpPr>
            <a:spLocks xmlns:a="http://schemas.openxmlformats.org/drawingml/2006/main" noGrp="1"/>
          </p:cNvSpPr>
          <p:nvPr/>
        </p:nvSpPr>
        <p:spPr>
          <a:xfrm xmlns:a="http://schemas.openxmlformats.org/drawingml/2006/main">
            <a:off x="628650" y="4867275"/>
            <a:ext cx="10572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263322"/>
                </a:solidFill>
                <a:latin typeface="Segoe UI"/>
                <a:ea typeface="Segoe UI"/>
                <a:cs typeface="Segoe UI"/>
              </a:defRPr>
            </a:defPPr>
          </a:lstStyle>
          <a:p xmlns:a="http://schemas.openxmlformats.org/drawingml/2006/main">
            <a:pPr>
              <a:defRPr sz="1725" b="0">
                <a:solidFill>
                  <a:srgbClr val="263322"/>
                </a:solidFill>
                <a:latin typeface="Segoe UI"/>
                <a:ea typeface="Segoe UI"/>
                <a:cs typeface="Segoe UI"/>
              </a:defRPr>
            </a:pPr>
            <a:r>
              <a:rPr sz="1725" b="0">
                <a:solidFill>
                  <a:srgbClr val="263322"/>
                </a:solidFill>
                <a:latin typeface="Segoe UI"/>
                <a:ea typeface="Segoe UI"/>
                <a:cs typeface="Segoe UI"/>
              </a:rPr>
              <a:t>Amr Khaled Mostafa Kamal  220901707</a:t>
            </a:r>
          </a:p>
        </p:txBody>
      </p:sp>
      <p:sp>
        <p:nvSpPr>
          <p:cNvPr id="11" name="">
            <a:extLst xmlns:a="http://schemas.openxmlformats.org/drawingml/2006/main">
              <a:ext uri="{FF2B5EF4-FFF2-40B4-BE49-F238E27FC236}">
                <a16:creationId xmlns:a16="http://schemas.microsoft.com/office/drawing/2014/main" id="{B51AADCF-A468-46C1-8FB6-3527A248B195}"/>
              </a:ext>
            </a:extLst>
          </p:cNvPr>
          <p:cNvSpPr>
            <a:spLocks xmlns:a="http://schemas.openxmlformats.org/drawingml/2006/main" noGrp="1"/>
          </p:cNvSpPr>
          <p:nvPr/>
        </p:nvSpPr>
        <p:spPr>
          <a:xfrm xmlns:a="http://schemas.openxmlformats.org/drawingml/2006/main">
            <a:off x="628650" y="5276850"/>
            <a:ext cx="10572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263322"/>
                </a:solidFill>
                <a:latin typeface="Segoe UI"/>
                <a:ea typeface="Segoe UI"/>
                <a:cs typeface="Segoe UI"/>
              </a:defRPr>
            </a:defPPr>
          </a:lstStyle>
          <a:p xmlns:a="http://schemas.openxmlformats.org/drawingml/2006/main">
            <a:pPr>
              <a:defRPr sz="1725" b="0">
                <a:solidFill>
                  <a:srgbClr val="263322"/>
                </a:solidFill>
                <a:latin typeface="Segoe UI"/>
                <a:ea typeface="Segoe UI"/>
                <a:cs typeface="Segoe UI"/>
              </a:defRPr>
            </a:pPr>
            <a:r>
              <a:rPr sz="1725" b="0">
                <a:solidFill>
                  <a:srgbClr val="263322"/>
                </a:solidFill>
                <a:latin typeface="Segoe UI"/>
                <a:ea typeface="Segoe UI"/>
                <a:cs typeface="Segoe UI"/>
              </a:rPr>
              <a:t>Abdulaziz Alzomi  2509111076</a:t>
            </a:r>
          </a:p>
        </p:txBody>
      </p:sp>
    </p:spTree>
    <p:extLst>
      <p:ext uri="{BB962C8B-B14F-4D97-AF65-F5344CB8AC3E}">
        <p14:creationId xmlns:p14="http://schemas.microsoft.com/office/powerpoint/2010/main" val="112362493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FA96E03-6A94-44C2-A88A-13FD82DAF52F}"/>
              </a:ext>
            </a:extLst>
          </p:cNvPr>
          <p:cNvSpPr>
            <a:spLocks xmlns:a="http://schemas.openxmlformats.org/drawingml/2006/main" noGrp="1"/>
          </p:cNvSpPr>
          <p:nvPr/>
        </p:nvSpPr>
        <p:spPr>
          <a:xfrm xmlns:a="http://schemas.openxmlformats.org/drawingml/2006/main">
            <a:off x="609600" y="457200"/>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263322"/>
                </a:solidFill>
                <a:latin typeface="Segoe UI"/>
                <a:ea typeface="Segoe UI"/>
                <a:cs typeface="Segoe UI"/>
              </a:defRPr>
            </a:defPPr>
          </a:lstStyle>
          <a:p xmlns:a="http://schemas.openxmlformats.org/drawingml/2006/main">
            <a:pPr>
              <a:defRPr sz="3300" b="1">
                <a:solidFill>
                  <a:srgbClr val="263322"/>
                </a:solidFill>
                <a:latin typeface="Segoe UI"/>
                <a:ea typeface="Segoe UI"/>
                <a:cs typeface="Segoe UI"/>
              </a:defRPr>
            </a:pPr>
            <a:r>
              <a:rPr sz="3300" b="1">
                <a:solidFill>
                  <a:srgbClr val="263322"/>
                </a:solidFill>
                <a:latin typeface="Segoe UI"/>
                <a:ea typeface="Segoe UI"/>
                <a:cs typeface="Segoe UI"/>
              </a:rPr>
              <a:t>The student spending workflow</a:t>
            </a:r>
          </a:p>
        </p:txBody>
      </p:sp>
      <p:sp>
        <p:nvSpPr>
          <p:cNvPr id="2" name="">
            <a:extLst xmlns:a="http://schemas.openxmlformats.org/drawingml/2006/main">
              <a:ext uri="{FF2B5EF4-FFF2-40B4-BE49-F238E27FC236}">
                <a16:creationId xmlns:a16="http://schemas.microsoft.com/office/drawing/2014/main" id="{EAB318B8-1B9A-4A8E-85A8-383BE2B904CA}"/>
              </a:ext>
            </a:extLst>
          </p:cNvPr>
          <p:cNvSpPr>
            <a:spLocks xmlns:a="http://schemas.openxmlformats.org/drawingml/2006/main" noGrp="1"/>
          </p:cNvSpPr>
          <p:nvPr/>
        </p:nvSpPr>
        <p:spPr>
          <a:xfrm xmlns:a="http://schemas.openxmlformats.org/drawingml/2006/main">
            <a:off x="609600" y="6334125"/>
            <a:ext cx="476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586744"/>
                </a:solidFill>
                <a:latin typeface="Segoe UI"/>
                <a:ea typeface="Segoe UI"/>
                <a:cs typeface="Segoe UI"/>
              </a:defRPr>
            </a:defPPr>
          </a:lstStyle>
          <a:p xmlns:a="http://schemas.openxmlformats.org/drawingml/2006/main">
            <a:pPr>
              <a:defRPr sz="1200" b="1">
                <a:solidFill>
                  <a:srgbClr val="586744"/>
                </a:solidFill>
                <a:latin typeface="Segoe UI"/>
                <a:ea typeface="Segoe UI"/>
                <a:cs typeface="Segoe UI"/>
              </a:defRPr>
            </a:pPr>
            <a:r>
              <a:rPr sz="1200" b="1">
                <a:solidFill>
                  <a:srgbClr val="586744"/>
                </a:solidFill>
                <a:latin typeface="Segoe UI"/>
                <a:ea typeface="Segoe UI"/>
                <a:cs typeface="Segoe UI"/>
              </a:rPr>
              <a:t>OLIVE LEDGER</a:t>
            </a:r>
          </a:p>
        </p:txBody>
      </p:sp>
      <p:sp>
        <p:nvSpPr>
          <p:cNvPr id="3" name="">
            <a:extLst xmlns:a="http://schemas.openxmlformats.org/drawingml/2006/main">
              <a:ext uri="{FF2B5EF4-FFF2-40B4-BE49-F238E27FC236}">
                <a16:creationId xmlns:a16="http://schemas.microsoft.com/office/drawing/2014/main" id="{8CDC84DF-629E-4345-8577-5B9AD4A4DA00}"/>
              </a:ext>
            </a:extLst>
          </p:cNvPr>
          <p:cNvSpPr>
            <a:spLocks xmlns:a="http://schemas.openxmlformats.org/drawingml/2006/main" noGrp="1"/>
          </p:cNvSpPr>
          <p:nvPr/>
        </p:nvSpPr>
        <p:spPr>
          <a:xfrm xmlns:a="http://schemas.openxmlformats.org/drawingml/2006/main">
            <a:off x="11049000" y="63341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F7868"/>
                </a:solidFill>
                <a:latin typeface="Segoe UI"/>
                <a:ea typeface="Segoe UI"/>
                <a:cs typeface="Segoe UI"/>
              </a:defRPr>
            </a:defPPr>
          </a:lstStyle>
          <a:p xmlns:a="http://schemas.openxmlformats.org/drawingml/2006/main">
            <a:pPr>
              <a:defRPr sz="1200" b="0">
                <a:solidFill>
                  <a:srgbClr val="6F7868"/>
                </a:solidFill>
                <a:latin typeface="Segoe UI"/>
                <a:ea typeface="Segoe UI"/>
                <a:cs typeface="Segoe UI"/>
              </a:defRPr>
            </a:pPr>
            <a:r>
              <a:rPr sz="1200" b="0">
                <a:solidFill>
                  <a:srgbClr val="6F7868"/>
                </a:solidFill>
                <a:latin typeface="Segoe UI"/>
                <a:ea typeface="Segoe UI"/>
                <a:cs typeface="Segoe UI"/>
              </a:rPr>
              <a:t>02</a:t>
            </a:r>
          </a:p>
        </p:txBody>
      </p:sp>
      <p:pic>
        <p:nvPicPr>
          <p:cNvPr id="4" name="">
            <a:extLst xmlns:a="http://schemas.openxmlformats.org/drawingml/2006/main">
              <a:ext uri="{FF2B5EF4-FFF2-40B4-BE49-F238E27FC236}">
                <a16:creationId xmlns:a16="http://schemas.microsoft.com/office/drawing/2014/main" id="{1E8127EA-EACF-4B78-80DA-0768E4118DFD}"/>
              </a:ext>
            </a:extLst>
          </p:cNvPr>
          <p:cNvPicPr>
            <a:picLocks xmlns:a="http://schemas.openxmlformats.org/drawingml/2006/main" noChangeAspect="1"/>
          </p:cNvPicPr>
          <p:nvPr/>
        </p:nvPicPr>
        <p:blipFill>
          <a:blip xmlns:r="http://schemas.openxmlformats.org/officeDocument/2006/relationships" xmlns:a="http://schemas.openxmlformats.org/drawingml/2006/main" r:embed="Rca2a7747c5914e93"/>
          <a:stretch xmlns:a="http://schemas.openxmlformats.org/drawingml/2006/main"/>
        </p:blipFill>
        <p:spPr>
          <a:xfrm xmlns:a="http://schemas.openxmlformats.org/drawingml/2006/main">
            <a:off x="706454" y="1352550"/>
            <a:ext cx="7616793" cy="4762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8F14E0F1-7C86-4DBB-84CC-698B7AD0ADDA}"/>
              </a:ext>
            </a:extLst>
          </p:cNvPr>
          <p:cNvSpPr>
            <a:spLocks xmlns:a="http://schemas.openxmlformats.org/drawingml/2006/main" noGrp="1"/>
          </p:cNvSpPr>
          <p:nvPr/>
        </p:nvSpPr>
        <p:spPr>
          <a:xfrm xmlns:a="http://schemas.openxmlformats.org/drawingml/2006/main">
            <a:off x="8763000" y="1524000"/>
            <a:ext cx="2571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586744"/>
                </a:solidFill>
                <a:latin typeface="Segoe UI"/>
                <a:ea typeface="Segoe UI"/>
                <a:cs typeface="Segoe UI"/>
              </a:defRPr>
            </a:defPPr>
          </a:lstStyle>
          <a:p xmlns:a="http://schemas.openxmlformats.org/drawingml/2006/main">
            <a:pPr>
              <a:defRPr sz="2250" b="1">
                <a:solidFill>
                  <a:srgbClr val="586744"/>
                </a:solidFill>
                <a:latin typeface="Segoe UI"/>
                <a:ea typeface="Segoe UI"/>
                <a:cs typeface="Segoe UI"/>
              </a:defRPr>
            </a:pPr>
            <a:r>
              <a:rPr sz="2250" b="1">
                <a:solidFill>
                  <a:srgbClr val="586744"/>
                </a:solidFill>
                <a:latin typeface="Segoe UI"/>
                <a:ea typeface="Segoe UI"/>
                <a:cs typeface="Segoe UI"/>
              </a:rPr>
              <a:t>Record</a:t>
            </a:r>
          </a:p>
        </p:txBody>
      </p:sp>
      <p:sp>
        <p:nvSpPr>
          <p:cNvPr id="6" name="">
            <a:extLst xmlns:a="http://schemas.openxmlformats.org/drawingml/2006/main">
              <a:ext uri="{FF2B5EF4-FFF2-40B4-BE49-F238E27FC236}">
                <a16:creationId xmlns:a16="http://schemas.microsoft.com/office/drawing/2014/main" id="{75265150-EC55-419D-8C37-0F2288B361CF}"/>
              </a:ext>
            </a:extLst>
          </p:cNvPr>
          <p:cNvSpPr>
            <a:spLocks xmlns:a="http://schemas.openxmlformats.org/drawingml/2006/main" noGrp="1"/>
          </p:cNvSpPr>
          <p:nvPr/>
        </p:nvSpPr>
        <p:spPr>
          <a:xfrm xmlns:a="http://schemas.openxmlformats.org/drawingml/2006/main">
            <a:off x="8763000" y="1981200"/>
            <a:ext cx="27146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263322"/>
                </a:solidFill>
                <a:latin typeface="Segoe UI"/>
                <a:ea typeface="Segoe UI"/>
                <a:cs typeface="Segoe UI"/>
              </a:defRPr>
            </a:defPPr>
          </a:lstStyle>
          <a:p xmlns:a="http://schemas.openxmlformats.org/drawingml/2006/main">
            <a:pPr>
              <a:defRPr sz="1800" b="0">
                <a:solidFill>
                  <a:srgbClr val="263322"/>
                </a:solidFill>
                <a:latin typeface="Segoe UI"/>
                <a:ea typeface="Segoe UI"/>
                <a:cs typeface="Segoe UI"/>
              </a:defRPr>
            </a:pPr>
            <a:r>
              <a:rPr sz="1800" b="0">
                <a:solidFill>
                  <a:srgbClr val="263322"/>
                </a:solidFill>
                <a:latin typeface="Segoe UI"/>
                <a:ea typeface="Segoe UI"/>
                <a:cs typeface="Segoe UI"/>
              </a:rPr>
              <a:t>Income and expenses</a:t>
            </a:r>
          </a:p>
          <a:p xmlns:a="http://schemas.openxmlformats.org/drawingml/2006/main">
            <a:pPr>
              <a:defRPr sz="1800" b="0">
                <a:solidFill>
                  <a:srgbClr val="263322"/>
                </a:solidFill>
                <a:latin typeface="Segoe UI"/>
                <a:ea typeface="Segoe UI"/>
                <a:cs typeface="Segoe UI"/>
              </a:defRPr>
            </a:pPr>
            <a:r>
              <a:rPr sz="1800" b="0">
                <a:solidFill>
                  <a:srgbClr val="263322"/>
                </a:solidFill>
                <a:latin typeface="Segoe UI"/>
                <a:ea typeface="Segoe UI"/>
                <a:cs typeface="Segoe UI"/>
              </a:rPr>
              <a:t>with dates and methods</a:t>
            </a:r>
          </a:p>
        </p:txBody>
      </p:sp>
      <p:sp>
        <p:nvSpPr>
          <p:cNvPr id="7" name="">
            <a:extLst xmlns:a="http://schemas.openxmlformats.org/drawingml/2006/main">
              <a:ext uri="{FF2B5EF4-FFF2-40B4-BE49-F238E27FC236}">
                <a16:creationId xmlns:a16="http://schemas.microsoft.com/office/drawing/2014/main" id="{68A0271A-52A3-4540-A7F5-CF7937A9959A}"/>
              </a:ext>
            </a:extLst>
          </p:cNvPr>
          <p:cNvSpPr>
            <a:spLocks xmlns:a="http://schemas.openxmlformats.org/drawingml/2006/main" noGrp="1"/>
          </p:cNvSpPr>
          <p:nvPr/>
        </p:nvSpPr>
        <p:spPr>
          <a:xfrm xmlns:a="http://schemas.openxmlformats.org/drawingml/2006/main">
            <a:off x="8763000" y="3048000"/>
            <a:ext cx="2571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586744"/>
                </a:solidFill>
                <a:latin typeface="Segoe UI"/>
                <a:ea typeface="Segoe UI"/>
                <a:cs typeface="Segoe UI"/>
              </a:defRPr>
            </a:defPPr>
          </a:lstStyle>
          <a:p xmlns:a="http://schemas.openxmlformats.org/drawingml/2006/main">
            <a:pPr>
              <a:defRPr sz="2250" b="1">
                <a:solidFill>
                  <a:srgbClr val="586744"/>
                </a:solidFill>
                <a:latin typeface="Segoe UI"/>
                <a:ea typeface="Segoe UI"/>
                <a:cs typeface="Segoe UI"/>
              </a:defRPr>
            </a:pPr>
            <a:r>
              <a:rPr sz="2250" b="1">
                <a:solidFill>
                  <a:srgbClr val="586744"/>
                </a:solidFill>
                <a:latin typeface="Segoe UI"/>
                <a:ea typeface="Segoe UI"/>
                <a:cs typeface="Segoe UI"/>
              </a:rPr>
              <a:t>Plan</a:t>
            </a:r>
          </a:p>
        </p:txBody>
      </p:sp>
      <p:sp>
        <p:nvSpPr>
          <p:cNvPr id="8" name="">
            <a:extLst xmlns:a="http://schemas.openxmlformats.org/drawingml/2006/main">
              <a:ext uri="{FF2B5EF4-FFF2-40B4-BE49-F238E27FC236}">
                <a16:creationId xmlns:a16="http://schemas.microsoft.com/office/drawing/2014/main" id="{D56DEC7C-CC29-43C4-99A9-D51959D0DFF0}"/>
              </a:ext>
            </a:extLst>
          </p:cNvPr>
          <p:cNvSpPr>
            <a:spLocks xmlns:a="http://schemas.openxmlformats.org/drawingml/2006/main" noGrp="1"/>
          </p:cNvSpPr>
          <p:nvPr/>
        </p:nvSpPr>
        <p:spPr>
          <a:xfrm xmlns:a="http://schemas.openxmlformats.org/drawingml/2006/main">
            <a:off x="8763000" y="3505200"/>
            <a:ext cx="27146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263322"/>
                </a:solidFill>
                <a:latin typeface="Segoe UI"/>
                <a:ea typeface="Segoe UI"/>
                <a:cs typeface="Segoe UI"/>
              </a:defRPr>
            </a:defPPr>
          </a:lstStyle>
          <a:p xmlns:a="http://schemas.openxmlformats.org/drawingml/2006/main">
            <a:pPr>
              <a:defRPr sz="1800" b="0">
                <a:solidFill>
                  <a:srgbClr val="263322"/>
                </a:solidFill>
                <a:latin typeface="Segoe UI"/>
                <a:ea typeface="Segoe UI"/>
                <a:cs typeface="Segoe UI"/>
              </a:defRPr>
            </a:pPr>
            <a:r>
              <a:rPr sz="1800" b="0">
                <a:solidFill>
                  <a:srgbClr val="263322"/>
                </a:solidFill>
                <a:latin typeface="Segoe UI"/>
                <a:ea typeface="Segoe UI"/>
                <a:cs typeface="Segoe UI"/>
              </a:rPr>
              <a:t>Monthly and</a:t>
            </a:r>
          </a:p>
          <a:p xmlns:a="http://schemas.openxmlformats.org/drawingml/2006/main">
            <a:pPr>
              <a:defRPr sz="1800" b="0">
                <a:solidFill>
                  <a:srgbClr val="263322"/>
                </a:solidFill>
                <a:latin typeface="Segoe UI"/>
                <a:ea typeface="Segoe UI"/>
                <a:cs typeface="Segoe UI"/>
              </a:defRPr>
            </a:pPr>
            <a:r>
              <a:rPr sz="1800" b="0">
                <a:solidFill>
                  <a:srgbClr val="263322"/>
                </a:solidFill>
                <a:latin typeface="Segoe UI"/>
                <a:ea typeface="Segoe UI"/>
                <a:cs typeface="Segoe UI"/>
              </a:rPr>
              <a:t>category budgets</a:t>
            </a:r>
          </a:p>
        </p:txBody>
      </p:sp>
      <p:sp>
        <p:nvSpPr>
          <p:cNvPr id="9" name="">
            <a:extLst xmlns:a="http://schemas.openxmlformats.org/drawingml/2006/main">
              <a:ext uri="{FF2B5EF4-FFF2-40B4-BE49-F238E27FC236}">
                <a16:creationId xmlns:a16="http://schemas.microsoft.com/office/drawing/2014/main" id="{0819F43A-E080-4411-929C-FD4A561A6786}"/>
              </a:ext>
            </a:extLst>
          </p:cNvPr>
          <p:cNvSpPr>
            <a:spLocks xmlns:a="http://schemas.openxmlformats.org/drawingml/2006/main" noGrp="1"/>
          </p:cNvSpPr>
          <p:nvPr/>
        </p:nvSpPr>
        <p:spPr>
          <a:xfrm xmlns:a="http://schemas.openxmlformats.org/drawingml/2006/main">
            <a:off x="8763000" y="4572000"/>
            <a:ext cx="2714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586744"/>
                </a:solidFill>
                <a:latin typeface="Segoe UI"/>
                <a:ea typeface="Segoe UI"/>
                <a:cs typeface="Segoe UI"/>
              </a:defRPr>
            </a:defPPr>
          </a:lstStyle>
          <a:p xmlns:a="http://schemas.openxmlformats.org/drawingml/2006/main">
            <a:pPr>
              <a:defRPr sz="2250" b="1">
                <a:solidFill>
                  <a:srgbClr val="586744"/>
                </a:solidFill>
                <a:latin typeface="Segoe UI"/>
                <a:ea typeface="Segoe UI"/>
                <a:cs typeface="Segoe UI"/>
              </a:defRPr>
            </a:pPr>
            <a:r>
              <a:rPr sz="2250" b="1">
                <a:solidFill>
                  <a:srgbClr val="586744"/>
                </a:solidFill>
                <a:latin typeface="Segoe UI"/>
                <a:ea typeface="Segoe UI"/>
                <a:cs typeface="Segoe UI"/>
              </a:rPr>
              <a:t>Understand</a:t>
            </a:r>
          </a:p>
        </p:txBody>
      </p:sp>
      <p:sp>
        <p:nvSpPr>
          <p:cNvPr id="10" name="">
            <a:extLst xmlns:a="http://schemas.openxmlformats.org/drawingml/2006/main">
              <a:ext uri="{FF2B5EF4-FFF2-40B4-BE49-F238E27FC236}">
                <a16:creationId xmlns:a16="http://schemas.microsoft.com/office/drawing/2014/main" id="{DFB79B10-5FD6-413C-8F9F-D395307FD74C}"/>
              </a:ext>
            </a:extLst>
          </p:cNvPr>
          <p:cNvSpPr>
            <a:spLocks xmlns:a="http://schemas.openxmlformats.org/drawingml/2006/main" noGrp="1"/>
          </p:cNvSpPr>
          <p:nvPr/>
        </p:nvSpPr>
        <p:spPr>
          <a:xfrm xmlns:a="http://schemas.openxmlformats.org/drawingml/2006/main">
            <a:off x="8763000" y="5029200"/>
            <a:ext cx="27146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263322"/>
                </a:solidFill>
                <a:latin typeface="Segoe UI"/>
                <a:ea typeface="Segoe UI"/>
                <a:cs typeface="Segoe UI"/>
              </a:defRPr>
            </a:defPPr>
          </a:lstStyle>
          <a:p xmlns:a="http://schemas.openxmlformats.org/drawingml/2006/main">
            <a:pPr>
              <a:defRPr sz="1800" b="0">
                <a:solidFill>
                  <a:srgbClr val="263322"/>
                </a:solidFill>
                <a:latin typeface="Segoe UI"/>
                <a:ea typeface="Segoe UI"/>
                <a:cs typeface="Segoe UI"/>
              </a:defRPr>
            </a:pPr>
            <a:r>
              <a:rPr sz="1800" b="0">
                <a:solidFill>
                  <a:srgbClr val="263322"/>
                </a:solidFill>
                <a:latin typeface="Segoe UI"/>
                <a:ea typeface="Segoe UI"/>
                <a:cs typeface="Segoe UI"/>
              </a:rPr>
              <a:t>Reports and alerts</a:t>
            </a:r>
          </a:p>
          <a:p xmlns:a="http://schemas.openxmlformats.org/drawingml/2006/main">
            <a:pPr>
              <a:defRPr sz="1800" b="0">
                <a:solidFill>
                  <a:srgbClr val="263322"/>
                </a:solidFill>
                <a:latin typeface="Segoe UI"/>
                <a:ea typeface="Segoe UI"/>
                <a:cs typeface="Segoe UI"/>
              </a:defRPr>
            </a:pPr>
            <a:r>
              <a:rPr sz="1800" b="0">
                <a:solidFill>
                  <a:srgbClr val="263322"/>
                </a:solidFill>
                <a:latin typeface="Segoe UI"/>
                <a:ea typeface="Segoe UI"/>
                <a:cs typeface="Segoe UI"/>
              </a:rPr>
              <a:t>with clear reasons</a:t>
            </a:r>
          </a:p>
        </p:txBody>
      </p:sp>
    </p:spTree>
    <p:extLst>
      <p:ext uri="{BB962C8B-B14F-4D97-AF65-F5344CB8AC3E}">
        <p14:creationId xmlns:p14="http://schemas.microsoft.com/office/powerpoint/2010/main" val="157644938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4" name="">
            <a:extLst xmlns:a="http://schemas.openxmlformats.org/drawingml/2006/main">
              <a:ext uri="{FF2B5EF4-FFF2-40B4-BE49-F238E27FC236}">
                <a16:creationId xmlns:a16="http://schemas.microsoft.com/office/drawing/2014/main" id="{7F7BE56A-3398-4BFE-9199-6D9F2F9771D4}"/>
              </a:ext>
            </a:extLst>
          </p:cNvPr>
          <p:cNvCxnSpPr>
            <a:stCxn xmlns:a="http://schemas.openxmlformats.org/drawingml/2006/main" id="8" idx="2"/>
            <a:endCxn xmlns:a="http://schemas.openxmlformats.org/drawingml/2006/main" id="9" idx="0"/>
          </p:cNvCxnSpPr>
          <p:nvPr/>
        </p:nvCxnSpPr>
        <p:spPr>
          <a:xfrm xmlns:a="http://schemas.openxmlformats.org/drawingml/2006/main">
            <a:off x="9120188" y="2714625"/>
            <a:ext cx="0" cy="571500"/>
          </a:xfrm>
          <a:prstGeom xmlns:a="http://schemas.openxmlformats.org/drawingml/2006/main" prst="straightConnector1">
            <a:avLst/>
          </a:prstGeom>
          <a:ln xmlns:a="http://schemas.openxmlformats.org/drawingml/2006/main" w="19050">
            <a:solidFill>
              <a:srgbClr val="586744"/>
            </a:solidFill>
            <a:tailEnd type="triangle" w="med" len="med"/>
          </a:ln>
        </p:spPr>
      </p:cxnSp>
      <p:cxnSp>
        <p:nvCxnSpPr>
          <p:cNvPr id="13" name="">
            <a:extLst xmlns:a="http://schemas.openxmlformats.org/drawingml/2006/main">
              <a:ext uri="{FF2B5EF4-FFF2-40B4-BE49-F238E27FC236}">
                <a16:creationId xmlns:a16="http://schemas.microsoft.com/office/drawing/2014/main" id="{AEBFB7FF-BA43-4A96-8FB1-90A808279165}"/>
              </a:ext>
            </a:extLst>
          </p:cNvPr>
          <p:cNvCxnSpPr>
            <a:stCxn xmlns:a="http://schemas.openxmlformats.org/drawingml/2006/main" id="7" idx="3"/>
            <a:endCxn xmlns:a="http://schemas.openxmlformats.org/drawingml/2006/main" id="8" idx="1"/>
          </p:cNvCxnSpPr>
          <p:nvPr/>
        </p:nvCxnSpPr>
        <p:spPr>
          <a:xfrm xmlns:a="http://schemas.openxmlformats.org/drawingml/2006/main">
            <a:off x="7477125" y="2381250"/>
            <a:ext cx="762000" cy="0"/>
          </a:xfrm>
          <a:prstGeom xmlns:a="http://schemas.openxmlformats.org/drawingml/2006/main" prst="straightConnector1">
            <a:avLst/>
          </a:prstGeom>
          <a:ln xmlns:a="http://schemas.openxmlformats.org/drawingml/2006/main" w="19050">
            <a:solidFill>
              <a:srgbClr val="586744"/>
            </a:solidFill>
            <a:tailEnd type="triangle" w="med" len="med"/>
          </a:ln>
        </p:spPr>
      </p:cxnSp>
      <p:cxnSp>
        <p:nvCxnSpPr>
          <p:cNvPr id="12" name="">
            <a:extLst xmlns:a="http://schemas.openxmlformats.org/drawingml/2006/main">
              <a:ext uri="{FF2B5EF4-FFF2-40B4-BE49-F238E27FC236}">
                <a16:creationId xmlns:a16="http://schemas.microsoft.com/office/drawing/2014/main" id="{8CB7DF07-7B7E-42C7-948C-ADD92F998E93}"/>
              </a:ext>
            </a:extLst>
          </p:cNvPr>
          <p:cNvCxnSpPr>
            <a:stCxn xmlns:a="http://schemas.openxmlformats.org/drawingml/2006/main" id="6" idx="3"/>
            <a:endCxn xmlns:a="http://schemas.openxmlformats.org/drawingml/2006/main" id="7" idx="1"/>
          </p:cNvCxnSpPr>
          <p:nvPr/>
        </p:nvCxnSpPr>
        <p:spPr>
          <a:xfrm xmlns:a="http://schemas.openxmlformats.org/drawingml/2006/main" flipV="1">
            <a:off x="4714875" y="2381250"/>
            <a:ext cx="1000125" cy="571500"/>
          </a:xfrm>
          <a:prstGeom xmlns:a="http://schemas.openxmlformats.org/drawingml/2006/main" prst="straightConnector1">
            <a:avLst/>
          </a:prstGeom>
          <a:ln xmlns:a="http://schemas.openxmlformats.org/drawingml/2006/main" w="19050">
            <a:solidFill>
              <a:srgbClr val="586744"/>
            </a:solidFill>
            <a:tailEnd type="triangle" w="med" len="med"/>
          </a:ln>
        </p:spPr>
      </p:cxnSp>
      <p:cxnSp>
        <p:nvCxnSpPr>
          <p:cNvPr id="11" name="">
            <a:extLst xmlns:a="http://schemas.openxmlformats.org/drawingml/2006/main">
              <a:ext uri="{FF2B5EF4-FFF2-40B4-BE49-F238E27FC236}">
                <a16:creationId xmlns:a16="http://schemas.microsoft.com/office/drawing/2014/main" id="{029E3D22-7198-415A-AED9-C72553862A52}"/>
              </a:ext>
            </a:extLst>
          </p:cNvPr>
          <p:cNvCxnSpPr>
            <a:stCxn xmlns:a="http://schemas.openxmlformats.org/drawingml/2006/main" id="5" idx="3"/>
            <a:endCxn xmlns:a="http://schemas.openxmlformats.org/drawingml/2006/main" id="7" idx="1"/>
          </p:cNvCxnSpPr>
          <p:nvPr/>
        </p:nvCxnSpPr>
        <p:spPr>
          <a:xfrm xmlns:a="http://schemas.openxmlformats.org/drawingml/2006/main">
            <a:off x="4714875" y="1809750"/>
            <a:ext cx="1000125" cy="571500"/>
          </a:xfrm>
          <a:prstGeom xmlns:a="http://schemas.openxmlformats.org/drawingml/2006/main" prst="straightConnector1">
            <a:avLst/>
          </a:prstGeom>
          <a:ln xmlns:a="http://schemas.openxmlformats.org/drawingml/2006/main" w="19050">
            <a:solidFill>
              <a:srgbClr val="586744"/>
            </a:solidFill>
            <a:tailEnd type="triangle" w="med" len="med"/>
          </a:ln>
        </p:spPr>
      </p:cxnSp>
      <p:cxnSp>
        <p:nvCxnSpPr>
          <p:cNvPr id="10" name="">
            <a:extLst xmlns:a="http://schemas.openxmlformats.org/drawingml/2006/main">
              <a:ext uri="{FF2B5EF4-FFF2-40B4-BE49-F238E27FC236}">
                <a16:creationId xmlns:a16="http://schemas.microsoft.com/office/drawing/2014/main" id="{134A604B-9E35-451E-92FA-363BB143CB28}"/>
              </a:ext>
            </a:extLst>
          </p:cNvPr>
          <p:cNvCxnSpPr>
            <a:stCxn xmlns:a="http://schemas.openxmlformats.org/drawingml/2006/main" id="4" idx="3"/>
            <a:endCxn xmlns:a="http://schemas.openxmlformats.org/drawingml/2006/main" id="5" idx="1"/>
          </p:cNvCxnSpPr>
          <p:nvPr/>
        </p:nvCxnSpPr>
        <p:spPr>
          <a:xfrm xmlns:a="http://schemas.openxmlformats.org/drawingml/2006/main">
            <a:off x="2381250" y="1809750"/>
            <a:ext cx="571500" cy="0"/>
          </a:xfrm>
          <a:prstGeom xmlns:a="http://schemas.openxmlformats.org/drawingml/2006/main" prst="straightConnector1">
            <a:avLst/>
          </a:prstGeom>
          <a:ln xmlns:a="http://schemas.openxmlformats.org/drawingml/2006/main" w="19050">
            <a:solidFill>
              <a:srgbClr val="586744"/>
            </a:solidFill>
            <a:tailEnd type="triangle" w="med" len="med"/>
          </a:ln>
        </p:spPr>
      </p:cxnSp>
      <p:sp>
        <p:nvSpPr>
          <p:cNvPr id="17" name="">
            <a:extLst xmlns:a="http://schemas.openxmlformats.org/drawingml/2006/main">
              <a:ext uri="{FF2B5EF4-FFF2-40B4-BE49-F238E27FC236}">
                <a16:creationId xmlns:a16="http://schemas.microsoft.com/office/drawing/2014/main" id="{5ED55659-C1A9-47B0-A413-489D81F5C31B}"/>
              </a:ext>
            </a:extLst>
          </p:cNvPr>
          <p:cNvSpPr>
            <a:spLocks xmlns:a="http://schemas.openxmlformats.org/drawingml/2006/main" noGrp="1"/>
          </p:cNvSpPr>
          <p:nvPr/>
        </p:nvSpPr>
        <p:spPr>
          <a:xfrm xmlns:a="http://schemas.openxmlformats.org/drawingml/2006/main">
            <a:off x="609600" y="457200"/>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263322"/>
                </a:solidFill>
                <a:latin typeface="Segoe UI"/>
                <a:ea typeface="Segoe UI"/>
                <a:cs typeface="Segoe UI"/>
              </a:defRPr>
            </a:defPPr>
          </a:lstStyle>
          <a:p xmlns:a="http://schemas.openxmlformats.org/drawingml/2006/main">
            <a:pPr>
              <a:defRPr sz="3300" b="1">
                <a:solidFill>
                  <a:srgbClr val="263322"/>
                </a:solidFill>
                <a:latin typeface="Segoe UI"/>
                <a:ea typeface="Segoe UI"/>
                <a:cs typeface="Segoe UI"/>
              </a:defRPr>
            </a:pPr>
            <a:r>
              <a:rPr sz="3300" b="1">
                <a:solidFill>
                  <a:srgbClr val="263322"/>
                </a:solidFill>
                <a:latin typeface="Segoe UI"/>
                <a:ea typeface="Segoe UI"/>
                <a:cs typeface="Segoe UI"/>
              </a:rPr>
              <a:t>One service, two entry points</a:t>
            </a:r>
          </a:p>
        </p:txBody>
      </p:sp>
      <p:sp>
        <p:nvSpPr>
          <p:cNvPr id="2" name="">
            <a:extLst xmlns:a="http://schemas.openxmlformats.org/drawingml/2006/main">
              <a:ext uri="{FF2B5EF4-FFF2-40B4-BE49-F238E27FC236}">
                <a16:creationId xmlns:a16="http://schemas.microsoft.com/office/drawing/2014/main" id="{7B21448E-7CEA-43ED-8197-D58B595DDBDA}"/>
              </a:ext>
            </a:extLst>
          </p:cNvPr>
          <p:cNvSpPr>
            <a:spLocks xmlns:a="http://schemas.openxmlformats.org/drawingml/2006/main" noGrp="1"/>
          </p:cNvSpPr>
          <p:nvPr/>
        </p:nvSpPr>
        <p:spPr>
          <a:xfrm xmlns:a="http://schemas.openxmlformats.org/drawingml/2006/main">
            <a:off x="609600" y="6334125"/>
            <a:ext cx="476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586744"/>
                </a:solidFill>
                <a:latin typeface="Segoe UI"/>
                <a:ea typeface="Segoe UI"/>
                <a:cs typeface="Segoe UI"/>
              </a:defRPr>
            </a:defPPr>
          </a:lstStyle>
          <a:p xmlns:a="http://schemas.openxmlformats.org/drawingml/2006/main">
            <a:pPr>
              <a:defRPr sz="1200" b="1">
                <a:solidFill>
                  <a:srgbClr val="586744"/>
                </a:solidFill>
                <a:latin typeface="Segoe UI"/>
                <a:ea typeface="Segoe UI"/>
                <a:cs typeface="Segoe UI"/>
              </a:defRPr>
            </a:pPr>
            <a:r>
              <a:rPr sz="1200" b="1">
                <a:solidFill>
                  <a:srgbClr val="586744"/>
                </a:solidFill>
                <a:latin typeface="Segoe UI"/>
                <a:ea typeface="Segoe UI"/>
                <a:cs typeface="Segoe UI"/>
              </a:rPr>
              <a:t>OLIVE LEDGER</a:t>
            </a:r>
          </a:p>
        </p:txBody>
      </p:sp>
      <p:sp>
        <p:nvSpPr>
          <p:cNvPr id="3" name="">
            <a:extLst xmlns:a="http://schemas.openxmlformats.org/drawingml/2006/main">
              <a:ext uri="{FF2B5EF4-FFF2-40B4-BE49-F238E27FC236}">
                <a16:creationId xmlns:a16="http://schemas.microsoft.com/office/drawing/2014/main" id="{AEEC80C1-D219-4016-AEF4-B14CE3830DB7}"/>
              </a:ext>
            </a:extLst>
          </p:cNvPr>
          <p:cNvSpPr>
            <a:spLocks xmlns:a="http://schemas.openxmlformats.org/drawingml/2006/main" noGrp="1"/>
          </p:cNvSpPr>
          <p:nvPr/>
        </p:nvSpPr>
        <p:spPr>
          <a:xfrm xmlns:a="http://schemas.openxmlformats.org/drawingml/2006/main">
            <a:off x="11049000" y="63341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F7868"/>
                </a:solidFill>
                <a:latin typeface="Segoe UI"/>
                <a:ea typeface="Segoe UI"/>
                <a:cs typeface="Segoe UI"/>
              </a:defRPr>
            </a:defPPr>
          </a:lstStyle>
          <a:p xmlns:a="http://schemas.openxmlformats.org/drawingml/2006/main">
            <a:pPr>
              <a:defRPr sz="1200" b="0">
                <a:solidFill>
                  <a:srgbClr val="6F7868"/>
                </a:solidFill>
                <a:latin typeface="Segoe UI"/>
                <a:ea typeface="Segoe UI"/>
                <a:cs typeface="Segoe UI"/>
              </a:defRPr>
            </a:pPr>
            <a:r>
              <a:rPr sz="1200" b="0">
                <a:solidFill>
                  <a:srgbClr val="6F7868"/>
                </a:solidFill>
                <a:latin typeface="Segoe UI"/>
                <a:ea typeface="Segoe UI"/>
                <a:cs typeface="Segoe UI"/>
              </a:rPr>
              <a:t>03</a:t>
            </a:r>
          </a:p>
        </p:txBody>
      </p:sp>
      <p:sp>
        <p:nvSpPr>
          <p:cNvPr id="4" name="">
            <a:extLst xmlns:a="http://schemas.openxmlformats.org/drawingml/2006/main">
              <a:ext uri="{FF2B5EF4-FFF2-40B4-BE49-F238E27FC236}">
                <a16:creationId xmlns:a16="http://schemas.microsoft.com/office/drawing/2014/main" id="{7841948A-40EF-4751-9468-9491DD1F67A1}"/>
              </a:ext>
            </a:extLst>
          </p:cNvPr>
          <p:cNvSpPr>
            <a:spLocks xmlns:a="http://schemas.openxmlformats.org/drawingml/2006/main" noGrp="1"/>
          </p:cNvSpPr>
          <p:nvPr/>
        </p:nvSpPr>
        <p:spPr>
          <a:xfrm xmlns:a="http://schemas.openxmlformats.org/drawingml/2006/main">
            <a:off x="619125" y="1476375"/>
            <a:ext cx="1762125" cy="666750"/>
          </a:xfrm>
          <a:prstGeom xmlns:a="http://schemas.openxmlformats.org/drawingml/2006/main" prst="rect">
            <a:avLst/>
          </a:prstGeom>
          <a:solidFill xmlns:a="http://schemas.openxmlformats.org/drawingml/2006/main">
            <a:srgbClr val="EDF1E5"/>
          </a:solidFill>
          <a:ln xmlns:a="http://schemas.openxmlformats.org/drawingml/2006/main" w="9525">
            <a:solidFill>
              <a:srgbClr val="586744"/>
            </a:solidFill>
          </a:ln>
        </p:spPr>
        <p:txBody>
          <a:bodyPr xmlns:a="http://schemas.openxmlformats.org/drawingml/2006/main" anchor="ctr"/>
          <a:lstStyle xmlns:a="http://schemas.openxmlformats.org/drawingml/2006/main">
            <a:defPPr algn="ctr">
              <a:defRPr sz="1875" b="1">
                <a:solidFill>
                  <a:srgbClr val="263322"/>
                </a:solidFill>
                <a:latin typeface="Segoe UI"/>
                <a:ea typeface="Segoe UI"/>
                <a:cs typeface="Segoe UI"/>
              </a:defRPr>
            </a:defPPr>
          </a:lstStyle>
          <a:p xmlns:a="http://schemas.openxmlformats.org/drawingml/2006/main">
            <a:pPr algn="ctr">
              <a:defRPr sz="1875" b="1">
                <a:solidFill>
                  <a:srgbClr val="263322"/>
                </a:solidFill>
                <a:latin typeface="Segoe UI"/>
                <a:ea typeface="Segoe UI"/>
                <a:cs typeface="Segoe UI"/>
              </a:defRPr>
            </a:pPr>
            <a:r>
              <a:rPr sz="1875" b="1">
                <a:solidFill>
                  <a:srgbClr val="263322"/>
                </a:solidFill>
                <a:latin typeface="Segoe UI"/>
                <a:ea typeface="Segoe UI"/>
                <a:cs typeface="Segoe UI"/>
              </a:rPr>
              <a:t>Frontend</a:t>
            </a:r>
          </a:p>
        </p:txBody>
      </p:sp>
      <p:sp>
        <p:nvSpPr>
          <p:cNvPr id="5" name="">
            <a:extLst xmlns:a="http://schemas.openxmlformats.org/drawingml/2006/main">
              <a:ext uri="{FF2B5EF4-FFF2-40B4-BE49-F238E27FC236}">
                <a16:creationId xmlns:a16="http://schemas.microsoft.com/office/drawing/2014/main" id="{DCF3C174-B5A8-4656-AD0E-80D23B94C72B}"/>
              </a:ext>
            </a:extLst>
          </p:cNvPr>
          <p:cNvSpPr>
            <a:spLocks xmlns:a="http://schemas.openxmlformats.org/drawingml/2006/main" noGrp="1"/>
          </p:cNvSpPr>
          <p:nvPr/>
        </p:nvSpPr>
        <p:spPr>
          <a:xfrm xmlns:a="http://schemas.openxmlformats.org/drawingml/2006/main">
            <a:off x="2952750" y="1476375"/>
            <a:ext cx="1762125" cy="666750"/>
          </a:xfrm>
          <a:prstGeom xmlns:a="http://schemas.openxmlformats.org/drawingml/2006/main" prst="rect">
            <a:avLst/>
          </a:prstGeom>
          <a:solidFill xmlns:a="http://schemas.openxmlformats.org/drawingml/2006/main">
            <a:srgbClr val="EDF1E5"/>
          </a:solidFill>
          <a:ln xmlns:a="http://schemas.openxmlformats.org/drawingml/2006/main" w="9525">
            <a:solidFill>
              <a:srgbClr val="586744"/>
            </a:solidFill>
          </a:ln>
        </p:spPr>
        <p:txBody>
          <a:bodyPr xmlns:a="http://schemas.openxmlformats.org/drawingml/2006/main" anchor="ctr"/>
          <a:lstStyle xmlns:a="http://schemas.openxmlformats.org/drawingml/2006/main">
            <a:defPPr algn="ctr">
              <a:defRPr sz="1875" b="1">
                <a:solidFill>
                  <a:srgbClr val="263322"/>
                </a:solidFill>
                <a:latin typeface="Segoe UI"/>
                <a:ea typeface="Segoe UI"/>
                <a:cs typeface="Segoe UI"/>
              </a:defRPr>
            </a:defPPr>
          </a:lstStyle>
          <a:p xmlns:a="http://schemas.openxmlformats.org/drawingml/2006/main">
            <a:pPr algn="ctr">
              <a:defRPr sz="1875" b="1">
                <a:solidFill>
                  <a:srgbClr val="263322"/>
                </a:solidFill>
                <a:latin typeface="Segoe UI"/>
                <a:ea typeface="Segoe UI"/>
                <a:cs typeface="Segoe UI"/>
              </a:defRPr>
            </a:pPr>
            <a:r>
              <a:rPr sz="1875" b="1">
                <a:solidFill>
                  <a:srgbClr val="263322"/>
                </a:solidFill>
                <a:latin typeface="Segoe UI"/>
                <a:ea typeface="Segoe UI"/>
                <a:cs typeface="Segoe UI"/>
              </a:rPr>
              <a:t>FastAPI</a:t>
            </a:r>
          </a:p>
        </p:txBody>
      </p:sp>
      <p:sp>
        <p:nvSpPr>
          <p:cNvPr id="6" name="">
            <a:extLst xmlns:a="http://schemas.openxmlformats.org/drawingml/2006/main">
              <a:ext uri="{FF2B5EF4-FFF2-40B4-BE49-F238E27FC236}">
                <a16:creationId xmlns:a16="http://schemas.microsoft.com/office/drawing/2014/main" id="{612DC00B-9587-44D4-8B9A-6FF1E97B5080}"/>
              </a:ext>
            </a:extLst>
          </p:cNvPr>
          <p:cNvSpPr>
            <a:spLocks xmlns:a="http://schemas.openxmlformats.org/drawingml/2006/main" noGrp="1"/>
          </p:cNvSpPr>
          <p:nvPr/>
        </p:nvSpPr>
        <p:spPr>
          <a:xfrm xmlns:a="http://schemas.openxmlformats.org/drawingml/2006/main">
            <a:off x="2952750" y="2619375"/>
            <a:ext cx="1762125" cy="666750"/>
          </a:xfrm>
          <a:prstGeom xmlns:a="http://schemas.openxmlformats.org/drawingml/2006/main" prst="rect">
            <a:avLst/>
          </a:prstGeom>
          <a:solidFill xmlns:a="http://schemas.openxmlformats.org/drawingml/2006/main">
            <a:srgbClr val="EDF1E5"/>
          </a:solidFill>
          <a:ln xmlns:a="http://schemas.openxmlformats.org/drawingml/2006/main" w="9525">
            <a:solidFill>
              <a:srgbClr val="586744"/>
            </a:solidFill>
          </a:ln>
        </p:spPr>
        <p:txBody>
          <a:bodyPr xmlns:a="http://schemas.openxmlformats.org/drawingml/2006/main" anchor="ctr"/>
          <a:lstStyle xmlns:a="http://schemas.openxmlformats.org/drawingml/2006/main">
            <a:defPPr algn="ctr">
              <a:defRPr sz="1875" b="1">
                <a:solidFill>
                  <a:srgbClr val="263322"/>
                </a:solidFill>
                <a:latin typeface="Segoe UI"/>
                <a:ea typeface="Segoe UI"/>
                <a:cs typeface="Segoe UI"/>
              </a:defRPr>
            </a:defPPr>
          </a:lstStyle>
          <a:p xmlns:a="http://schemas.openxmlformats.org/drawingml/2006/main">
            <a:pPr algn="ctr">
              <a:defRPr sz="1875" b="1">
                <a:solidFill>
                  <a:srgbClr val="263322"/>
                </a:solidFill>
                <a:latin typeface="Segoe UI"/>
                <a:ea typeface="Segoe UI"/>
                <a:cs typeface="Segoe UI"/>
              </a:defRPr>
            </a:pPr>
            <a:r>
              <a:rPr sz="1875" b="1">
                <a:solidFill>
                  <a:srgbClr val="263322"/>
                </a:solidFill>
                <a:latin typeface="Segoe UI"/>
                <a:ea typeface="Segoe UI"/>
                <a:cs typeface="Segoe UI"/>
              </a:rPr>
              <a:t>argparse CLI</a:t>
            </a:r>
          </a:p>
        </p:txBody>
      </p:sp>
      <p:sp>
        <p:nvSpPr>
          <p:cNvPr id="7" name="">
            <a:extLst xmlns:a="http://schemas.openxmlformats.org/drawingml/2006/main">
              <a:ext uri="{FF2B5EF4-FFF2-40B4-BE49-F238E27FC236}">
                <a16:creationId xmlns:a16="http://schemas.microsoft.com/office/drawing/2014/main" id="{0CBE6A18-5420-40B4-8C09-75E31FBAB62D}"/>
              </a:ext>
            </a:extLst>
          </p:cNvPr>
          <p:cNvSpPr>
            <a:spLocks xmlns:a="http://schemas.openxmlformats.org/drawingml/2006/main" noGrp="1"/>
          </p:cNvSpPr>
          <p:nvPr/>
        </p:nvSpPr>
        <p:spPr>
          <a:xfrm xmlns:a="http://schemas.openxmlformats.org/drawingml/2006/main">
            <a:off x="5715000" y="2047875"/>
            <a:ext cx="1762125" cy="666750"/>
          </a:xfrm>
          <a:prstGeom xmlns:a="http://schemas.openxmlformats.org/drawingml/2006/main" prst="rect">
            <a:avLst/>
          </a:prstGeom>
          <a:solidFill xmlns:a="http://schemas.openxmlformats.org/drawingml/2006/main">
            <a:srgbClr val="EDF1E5"/>
          </a:solidFill>
          <a:ln xmlns:a="http://schemas.openxmlformats.org/drawingml/2006/main" w="9525">
            <a:solidFill>
              <a:srgbClr val="586744"/>
            </a:solidFill>
          </a:ln>
        </p:spPr>
        <p:txBody>
          <a:bodyPr xmlns:a="http://schemas.openxmlformats.org/drawingml/2006/main" anchor="ctr"/>
          <a:lstStyle xmlns:a="http://schemas.openxmlformats.org/drawingml/2006/main">
            <a:defPPr algn="ctr">
              <a:defRPr sz="1875" b="1">
                <a:solidFill>
                  <a:srgbClr val="263322"/>
                </a:solidFill>
                <a:latin typeface="Segoe UI"/>
                <a:ea typeface="Segoe UI"/>
                <a:cs typeface="Segoe UI"/>
              </a:defRPr>
            </a:defPPr>
          </a:lstStyle>
          <a:p xmlns:a="http://schemas.openxmlformats.org/drawingml/2006/main">
            <a:pPr algn="ctr">
              <a:defRPr sz="1875" b="1">
                <a:solidFill>
                  <a:srgbClr val="263322"/>
                </a:solidFill>
                <a:latin typeface="Segoe UI"/>
                <a:ea typeface="Segoe UI"/>
                <a:cs typeface="Segoe UI"/>
              </a:defRPr>
            </a:pPr>
            <a:r>
              <a:rPr sz="1875" b="1">
                <a:solidFill>
                  <a:srgbClr val="263322"/>
                </a:solidFill>
                <a:latin typeface="Segoe UI"/>
                <a:ea typeface="Segoe UI"/>
                <a:cs typeface="Segoe UI"/>
              </a:rPr>
              <a:t>Service</a:t>
            </a:r>
          </a:p>
        </p:txBody>
      </p:sp>
      <p:sp>
        <p:nvSpPr>
          <p:cNvPr id="8" name="">
            <a:extLst xmlns:a="http://schemas.openxmlformats.org/drawingml/2006/main">
              <a:ext uri="{FF2B5EF4-FFF2-40B4-BE49-F238E27FC236}">
                <a16:creationId xmlns:a16="http://schemas.microsoft.com/office/drawing/2014/main" id="{D641D4C1-B90E-42C2-ACD3-F1D5FB153A15}"/>
              </a:ext>
            </a:extLst>
          </p:cNvPr>
          <p:cNvSpPr>
            <a:spLocks xmlns:a="http://schemas.openxmlformats.org/drawingml/2006/main" noGrp="1"/>
          </p:cNvSpPr>
          <p:nvPr/>
        </p:nvSpPr>
        <p:spPr>
          <a:xfrm xmlns:a="http://schemas.openxmlformats.org/drawingml/2006/main">
            <a:off x="8239125" y="2047875"/>
            <a:ext cx="1762125" cy="666750"/>
          </a:xfrm>
          <a:prstGeom xmlns:a="http://schemas.openxmlformats.org/drawingml/2006/main" prst="rect">
            <a:avLst/>
          </a:prstGeom>
          <a:solidFill xmlns:a="http://schemas.openxmlformats.org/drawingml/2006/main">
            <a:srgbClr val="EDF1E5"/>
          </a:solidFill>
          <a:ln xmlns:a="http://schemas.openxmlformats.org/drawingml/2006/main" w="9525">
            <a:solidFill>
              <a:srgbClr val="586744"/>
            </a:solidFill>
          </a:ln>
        </p:spPr>
        <p:txBody>
          <a:bodyPr xmlns:a="http://schemas.openxmlformats.org/drawingml/2006/main" anchor="ctr"/>
          <a:lstStyle xmlns:a="http://schemas.openxmlformats.org/drawingml/2006/main">
            <a:defPPr algn="ctr">
              <a:defRPr sz="1875" b="1">
                <a:solidFill>
                  <a:srgbClr val="263322"/>
                </a:solidFill>
                <a:latin typeface="Segoe UI"/>
                <a:ea typeface="Segoe UI"/>
                <a:cs typeface="Segoe UI"/>
              </a:defRPr>
            </a:defPPr>
          </a:lstStyle>
          <a:p xmlns:a="http://schemas.openxmlformats.org/drawingml/2006/main">
            <a:pPr algn="ctr">
              <a:defRPr sz="1875" b="1">
                <a:solidFill>
                  <a:srgbClr val="263322"/>
                </a:solidFill>
                <a:latin typeface="Segoe UI"/>
                <a:ea typeface="Segoe UI"/>
                <a:cs typeface="Segoe UI"/>
              </a:defRPr>
            </a:pPr>
            <a:r>
              <a:rPr sz="1875" b="1">
                <a:solidFill>
                  <a:srgbClr val="263322"/>
                </a:solidFill>
                <a:latin typeface="Segoe UI"/>
                <a:ea typeface="Segoe UI"/>
                <a:cs typeface="Segoe UI"/>
              </a:rPr>
              <a:t>Repository</a:t>
            </a:r>
          </a:p>
        </p:txBody>
      </p:sp>
      <p:sp>
        <p:nvSpPr>
          <p:cNvPr id="9" name="">
            <a:extLst xmlns:a="http://schemas.openxmlformats.org/drawingml/2006/main">
              <a:ext uri="{FF2B5EF4-FFF2-40B4-BE49-F238E27FC236}">
                <a16:creationId xmlns:a16="http://schemas.microsoft.com/office/drawing/2014/main" id="{E4C03148-72C3-4D08-90A5-9A68BBEF3D2D}"/>
              </a:ext>
            </a:extLst>
          </p:cNvPr>
          <p:cNvSpPr>
            <a:spLocks xmlns:a="http://schemas.openxmlformats.org/drawingml/2006/main" noGrp="1"/>
          </p:cNvSpPr>
          <p:nvPr/>
        </p:nvSpPr>
        <p:spPr>
          <a:xfrm xmlns:a="http://schemas.openxmlformats.org/drawingml/2006/main">
            <a:off x="8239125" y="3286125"/>
            <a:ext cx="1762125" cy="666750"/>
          </a:xfrm>
          <a:prstGeom xmlns:a="http://schemas.openxmlformats.org/drawingml/2006/main" prst="rect">
            <a:avLst/>
          </a:prstGeom>
          <a:solidFill xmlns:a="http://schemas.openxmlformats.org/drawingml/2006/main">
            <a:srgbClr val="EDF1E5"/>
          </a:solidFill>
          <a:ln xmlns:a="http://schemas.openxmlformats.org/drawingml/2006/main" w="9525">
            <a:solidFill>
              <a:srgbClr val="586744"/>
            </a:solidFill>
          </a:ln>
        </p:spPr>
        <p:txBody>
          <a:bodyPr xmlns:a="http://schemas.openxmlformats.org/drawingml/2006/main" anchor="ctr"/>
          <a:lstStyle xmlns:a="http://schemas.openxmlformats.org/drawingml/2006/main">
            <a:defPPr algn="ctr">
              <a:defRPr sz="1875" b="1">
                <a:solidFill>
                  <a:srgbClr val="263322"/>
                </a:solidFill>
                <a:latin typeface="Segoe UI"/>
                <a:ea typeface="Segoe UI"/>
                <a:cs typeface="Segoe UI"/>
              </a:defRPr>
            </a:defPPr>
          </a:lstStyle>
          <a:p xmlns:a="http://schemas.openxmlformats.org/drawingml/2006/main">
            <a:pPr algn="ctr">
              <a:defRPr sz="1875" b="1">
                <a:solidFill>
                  <a:srgbClr val="263322"/>
                </a:solidFill>
                <a:latin typeface="Segoe UI"/>
                <a:ea typeface="Segoe UI"/>
                <a:cs typeface="Segoe UI"/>
              </a:defRPr>
            </a:pPr>
            <a:r>
              <a:rPr sz="1875" b="1">
                <a:solidFill>
                  <a:srgbClr val="263322"/>
                </a:solidFill>
                <a:latin typeface="Segoe UI"/>
                <a:ea typeface="Segoe UI"/>
                <a:cs typeface="Segoe UI"/>
              </a:rPr>
              <a:t>SQLite</a:t>
            </a:r>
          </a:p>
        </p:txBody>
      </p:sp>
      <p:sp>
        <p:nvSpPr>
          <p:cNvPr id="15" name="">
            <a:extLst xmlns:a="http://schemas.openxmlformats.org/drawingml/2006/main">
              <a:ext uri="{FF2B5EF4-FFF2-40B4-BE49-F238E27FC236}">
                <a16:creationId xmlns:a16="http://schemas.microsoft.com/office/drawing/2014/main" id="{84E2DB41-9E53-4733-8F4A-2320C923D998}"/>
              </a:ext>
            </a:extLst>
          </p:cNvPr>
          <p:cNvSpPr>
            <a:spLocks xmlns:a="http://schemas.openxmlformats.org/drawingml/2006/main" noGrp="1"/>
          </p:cNvSpPr>
          <p:nvPr/>
        </p:nvSpPr>
        <p:spPr>
          <a:xfrm xmlns:a="http://schemas.openxmlformats.org/drawingml/2006/main">
            <a:off x="628650" y="4191000"/>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6F7868"/>
                </a:solidFill>
                <a:latin typeface="Segoe UI"/>
                <a:ea typeface="Segoe UI"/>
                <a:cs typeface="Segoe UI"/>
              </a:defRPr>
            </a:defPPr>
          </a:lstStyle>
          <a:p xmlns:a="http://schemas.openxmlformats.org/drawingml/2006/main">
            <a:pPr>
              <a:defRPr sz="1725" b="0">
                <a:solidFill>
                  <a:srgbClr val="6F7868"/>
                </a:solidFill>
                <a:latin typeface="Segoe UI"/>
                <a:ea typeface="Segoe UI"/>
                <a:cs typeface="Segoe UI"/>
              </a:defRPr>
            </a:pPr>
            <a:r>
              <a:rPr sz="1725" b="0">
                <a:solidFill>
                  <a:srgbClr val="6F7868"/>
                </a:solidFill>
                <a:latin typeface="Segoe UI"/>
                <a:ea typeface="Segoe UI"/>
                <a:cs typeface="Segoe UI"/>
              </a:rPr>
              <a:t>CLI entry point excerpt</a:t>
            </a:r>
          </a:p>
        </p:txBody>
      </p:sp>
      <p:sp>
        <p:nvSpPr>
          <p:cNvPr id="16" name="">
            <a:extLst xmlns:a="http://schemas.openxmlformats.org/drawingml/2006/main">
              <a:ext uri="{FF2B5EF4-FFF2-40B4-BE49-F238E27FC236}">
                <a16:creationId xmlns:a16="http://schemas.microsoft.com/office/drawing/2014/main" id="{259F6B36-1D13-43BB-8C9B-4EF115465395}"/>
              </a:ext>
            </a:extLst>
          </p:cNvPr>
          <p:cNvSpPr>
            <a:spLocks xmlns:a="http://schemas.openxmlformats.org/drawingml/2006/main" noGrp="1"/>
          </p:cNvSpPr>
          <p:nvPr/>
        </p:nvSpPr>
        <p:spPr>
          <a:xfrm xmlns:a="http://schemas.openxmlformats.org/drawingml/2006/main">
            <a:off x="628650" y="4667250"/>
            <a:ext cx="10858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586744"/>
                </a:solidFill>
                <a:latin typeface="Consolas"/>
                <a:ea typeface="Consolas"/>
                <a:cs typeface="Consolas"/>
              </a:defRPr>
            </a:defPPr>
          </a:lstStyle>
          <a:p xmlns:a="http://schemas.openxmlformats.org/drawingml/2006/main">
            <a:pPr>
              <a:defRPr sz="2025" b="0">
                <a:solidFill>
                  <a:srgbClr val="586744"/>
                </a:solidFill>
                <a:latin typeface="Consolas"/>
                <a:ea typeface="Consolas"/>
                <a:cs typeface="Consolas"/>
              </a:defRPr>
            </a:pPr>
            <a:r>
              <a:rPr sz="2025" b="0">
                <a:solidFill>
                  <a:srgbClr val="586744"/>
                </a:solidFill>
                <a:latin typeface="Consolas"/>
                <a:ea typeface="Consolas"/>
                <a:cs typeface="Consolas"/>
              </a:rPr>
              <a:t>args = vars(parser().parse_args(argv))</a:t>
            </a:r>
          </a:p>
          <a:p xmlns:a="http://schemas.openxmlformats.org/drawingml/2006/main">
            <a:pPr>
              <a:defRPr sz="2025" b="0">
                <a:solidFill>
                  <a:srgbClr val="586744"/>
                </a:solidFill>
                <a:latin typeface="Consolas"/>
                <a:ea typeface="Consolas"/>
                <a:cs typeface="Consolas"/>
              </a:defRPr>
            </a:pPr>
            <a:r>
              <a:rPr sz="2025" b="0">
                <a:solidFill>
                  <a:srgbClr val="586744"/>
                </a:solidFill>
                <a:latin typeface="Consolas"/>
                <a:ea typeface="Consolas"/>
                <a:cs typeface="Consolas"/>
              </a:rPr>
              <a:t>service = ExpenseService(db)</a:t>
            </a:r>
          </a:p>
          <a:p xmlns:a="http://schemas.openxmlformats.org/drawingml/2006/main">
            <a:pPr>
              <a:defRPr sz="2025" b="0">
                <a:solidFill>
                  <a:srgbClr val="586744"/>
                </a:solidFill>
                <a:latin typeface="Consolas"/>
                <a:ea typeface="Consolas"/>
                <a:cs typeface="Consolas"/>
              </a:defRPr>
            </a:pPr>
            <a:r>
              <a:rPr sz="2025" b="0">
                <a:solidFill>
                  <a:srgbClr val="586744"/>
                </a:solidFill>
                <a:latin typeface="Consolas"/>
                <a:ea typeface="Consolas"/>
                <a:cs typeface="Consolas"/>
              </a:rPr>
              <a:t>result = service.add_transaction(**args)</a:t>
            </a:r>
          </a:p>
        </p:txBody>
      </p:sp>
    </p:spTree>
    <p:extLst>
      <p:ext uri="{BB962C8B-B14F-4D97-AF65-F5344CB8AC3E}">
        <p14:creationId xmlns:p14="http://schemas.microsoft.com/office/powerpoint/2010/main" val="18504912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7EB1A71-7FCD-467A-B6C1-5CA135E41A93}"/>
              </a:ext>
            </a:extLst>
          </p:cNvPr>
          <p:cNvSpPr>
            <a:spLocks xmlns:a="http://schemas.openxmlformats.org/drawingml/2006/main" noGrp="1"/>
          </p:cNvSpPr>
          <p:nvPr/>
        </p:nvSpPr>
        <p:spPr>
          <a:xfrm xmlns:a="http://schemas.openxmlformats.org/drawingml/2006/main">
            <a:off x="609600" y="457200"/>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263322"/>
                </a:solidFill>
                <a:latin typeface="Segoe UI"/>
                <a:ea typeface="Segoe UI"/>
                <a:cs typeface="Segoe UI"/>
              </a:defRPr>
            </a:defPPr>
          </a:lstStyle>
          <a:p xmlns:a="http://schemas.openxmlformats.org/drawingml/2006/main">
            <a:pPr>
              <a:defRPr sz="3300" b="1">
                <a:solidFill>
                  <a:srgbClr val="263322"/>
                </a:solidFill>
                <a:latin typeface="Segoe UI"/>
                <a:ea typeface="Segoe UI"/>
                <a:cs typeface="Segoe UI"/>
              </a:defRPr>
            </a:pPr>
            <a:r>
              <a:rPr sz="3300" b="1">
                <a:solidFill>
                  <a:srgbClr val="263322"/>
                </a:solidFill>
                <a:latin typeface="Segoe UI"/>
                <a:ea typeface="Segoe UI"/>
                <a:cs typeface="Segoe UI"/>
              </a:rPr>
              <a:t>Exact money and validated storage</a:t>
            </a:r>
          </a:p>
        </p:txBody>
      </p:sp>
      <p:sp>
        <p:nvSpPr>
          <p:cNvPr id="2" name="">
            <a:extLst xmlns:a="http://schemas.openxmlformats.org/drawingml/2006/main">
              <a:ext uri="{FF2B5EF4-FFF2-40B4-BE49-F238E27FC236}">
                <a16:creationId xmlns:a16="http://schemas.microsoft.com/office/drawing/2014/main" id="{93D726F7-E3C3-41F6-B87B-F09BC15D20E9}"/>
              </a:ext>
            </a:extLst>
          </p:cNvPr>
          <p:cNvSpPr>
            <a:spLocks xmlns:a="http://schemas.openxmlformats.org/drawingml/2006/main" noGrp="1"/>
          </p:cNvSpPr>
          <p:nvPr/>
        </p:nvSpPr>
        <p:spPr>
          <a:xfrm xmlns:a="http://schemas.openxmlformats.org/drawingml/2006/main">
            <a:off x="609600" y="6334125"/>
            <a:ext cx="476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586744"/>
                </a:solidFill>
                <a:latin typeface="Segoe UI"/>
                <a:ea typeface="Segoe UI"/>
                <a:cs typeface="Segoe UI"/>
              </a:defRPr>
            </a:defPPr>
          </a:lstStyle>
          <a:p xmlns:a="http://schemas.openxmlformats.org/drawingml/2006/main">
            <a:pPr>
              <a:defRPr sz="1200" b="1">
                <a:solidFill>
                  <a:srgbClr val="586744"/>
                </a:solidFill>
                <a:latin typeface="Segoe UI"/>
                <a:ea typeface="Segoe UI"/>
                <a:cs typeface="Segoe UI"/>
              </a:defRPr>
            </a:pPr>
            <a:r>
              <a:rPr sz="1200" b="1">
                <a:solidFill>
                  <a:srgbClr val="586744"/>
                </a:solidFill>
                <a:latin typeface="Segoe UI"/>
                <a:ea typeface="Segoe UI"/>
                <a:cs typeface="Segoe UI"/>
              </a:rPr>
              <a:t>OLIVE LEDGER</a:t>
            </a:r>
          </a:p>
        </p:txBody>
      </p:sp>
      <p:sp>
        <p:nvSpPr>
          <p:cNvPr id="3" name="">
            <a:extLst xmlns:a="http://schemas.openxmlformats.org/drawingml/2006/main">
              <a:ext uri="{FF2B5EF4-FFF2-40B4-BE49-F238E27FC236}">
                <a16:creationId xmlns:a16="http://schemas.microsoft.com/office/drawing/2014/main" id="{E4BFBDDD-62BC-47F8-B974-AD99F3FD6BAA}"/>
              </a:ext>
            </a:extLst>
          </p:cNvPr>
          <p:cNvSpPr>
            <a:spLocks xmlns:a="http://schemas.openxmlformats.org/drawingml/2006/main" noGrp="1"/>
          </p:cNvSpPr>
          <p:nvPr/>
        </p:nvSpPr>
        <p:spPr>
          <a:xfrm xmlns:a="http://schemas.openxmlformats.org/drawingml/2006/main">
            <a:off x="11049000" y="63341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F7868"/>
                </a:solidFill>
                <a:latin typeface="Segoe UI"/>
                <a:ea typeface="Segoe UI"/>
                <a:cs typeface="Segoe UI"/>
              </a:defRPr>
            </a:defPPr>
          </a:lstStyle>
          <a:p xmlns:a="http://schemas.openxmlformats.org/drawingml/2006/main">
            <a:pPr>
              <a:defRPr sz="1200" b="0">
                <a:solidFill>
                  <a:srgbClr val="6F7868"/>
                </a:solidFill>
                <a:latin typeface="Segoe UI"/>
                <a:ea typeface="Segoe UI"/>
                <a:cs typeface="Segoe UI"/>
              </a:defRPr>
            </a:pPr>
            <a:r>
              <a:rPr sz="1200" b="0">
                <a:solidFill>
                  <a:srgbClr val="6F7868"/>
                </a:solidFill>
                <a:latin typeface="Segoe UI"/>
                <a:ea typeface="Segoe UI"/>
                <a:cs typeface="Segoe UI"/>
              </a:rPr>
              <a:t>04</a:t>
            </a:r>
          </a:p>
        </p:txBody>
      </p:sp>
      <p:sp>
        <p:nvSpPr>
          <p:cNvPr id="4" name="">
            <a:extLst xmlns:a="http://schemas.openxmlformats.org/drawingml/2006/main">
              <a:ext uri="{FF2B5EF4-FFF2-40B4-BE49-F238E27FC236}">
                <a16:creationId xmlns:a16="http://schemas.microsoft.com/office/drawing/2014/main" id="{89F1BF09-C91C-4DA6-A507-B79991BB9162}"/>
              </a:ext>
            </a:extLst>
          </p:cNvPr>
          <p:cNvSpPr>
            <a:spLocks xmlns:a="http://schemas.openxmlformats.org/drawingml/2006/main" noGrp="1"/>
          </p:cNvSpPr>
          <p:nvPr/>
        </p:nvSpPr>
        <p:spPr>
          <a:xfrm xmlns:a="http://schemas.openxmlformats.org/drawingml/2006/main">
            <a:off x="628650" y="144780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586744"/>
                </a:solidFill>
                <a:latin typeface="Segoe UI"/>
                <a:ea typeface="Segoe UI"/>
                <a:cs typeface="Segoe UI"/>
              </a:defRPr>
            </a:defPPr>
          </a:lstStyle>
          <a:p xmlns:a="http://schemas.openxmlformats.org/drawingml/2006/main">
            <a:pPr>
              <a:defRPr sz="2250" b="1">
                <a:solidFill>
                  <a:srgbClr val="586744"/>
                </a:solidFill>
                <a:latin typeface="Segoe UI"/>
                <a:ea typeface="Segoe UI"/>
                <a:cs typeface="Segoe UI"/>
              </a:defRPr>
            </a:pPr>
            <a:r>
              <a:rPr sz="2250" b="1">
                <a:solidFill>
                  <a:srgbClr val="586744"/>
                </a:solidFill>
                <a:latin typeface="Segoe UI"/>
                <a:ea typeface="Segoe UI"/>
                <a:cs typeface="Segoe UI"/>
              </a:rPr>
              <a:t>Decimal input becomes integer cents</a:t>
            </a:r>
          </a:p>
        </p:txBody>
      </p:sp>
      <p:sp>
        <p:nvSpPr>
          <p:cNvPr id="5" name="">
            <a:extLst xmlns:a="http://schemas.openxmlformats.org/drawingml/2006/main">
              <a:ext uri="{FF2B5EF4-FFF2-40B4-BE49-F238E27FC236}">
                <a16:creationId xmlns:a16="http://schemas.microsoft.com/office/drawing/2014/main" id="{8318FAAE-A7B1-4FF8-A0DF-7ABF1934108F}"/>
              </a:ext>
            </a:extLst>
          </p:cNvPr>
          <p:cNvSpPr>
            <a:spLocks xmlns:a="http://schemas.openxmlformats.org/drawingml/2006/main" noGrp="1"/>
          </p:cNvSpPr>
          <p:nvPr/>
        </p:nvSpPr>
        <p:spPr>
          <a:xfrm xmlns:a="http://schemas.openxmlformats.org/drawingml/2006/main">
            <a:off x="628650" y="2076450"/>
            <a:ext cx="109537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586744"/>
                </a:solidFill>
                <a:latin typeface="Consolas"/>
                <a:ea typeface="Consolas"/>
                <a:cs typeface="Consolas"/>
              </a:defRPr>
            </a:defPPr>
          </a:lstStyle>
          <a:p xmlns:a="http://schemas.openxmlformats.org/drawingml/2006/main">
            <a:pPr>
              <a:defRPr sz="1950" b="0">
                <a:solidFill>
                  <a:srgbClr val="586744"/>
                </a:solidFill>
                <a:latin typeface="Consolas"/>
                <a:ea typeface="Consolas"/>
                <a:cs typeface="Consolas"/>
              </a:defRPr>
            </a:pPr>
            <a:r>
              <a:rPr sz="1950" b="0">
                <a:solidFill>
                  <a:srgbClr val="586744"/>
                </a:solidFill>
                <a:latin typeface="Consolas"/>
                <a:ea typeface="Consolas"/>
                <a:cs typeface="Consolas"/>
              </a:rPr>
              <a:t>amount = Decimal(str(value))</a:t>
            </a:r>
          </a:p>
          <a:p xmlns:a="http://schemas.openxmlformats.org/drawingml/2006/main">
            <a:pPr>
              <a:defRPr sz="1950" b="0">
                <a:solidFill>
                  <a:srgbClr val="586744"/>
                </a:solidFill>
                <a:latin typeface="Consolas"/>
                <a:ea typeface="Consolas"/>
                <a:cs typeface="Consolas"/>
              </a:defRPr>
            </a:pPr>
            <a:r>
              <a:rPr sz="1950" b="0">
                <a:solidFill>
                  <a:srgbClr val="586744"/>
                </a:solidFill>
                <a:latin typeface="Consolas"/>
                <a:ea typeface="Consolas"/>
                <a:cs typeface="Consolas"/>
              </a:rPr>
              <a:t>if amount != amount.quantize(Decimal("0.01")):</a:t>
            </a:r>
          </a:p>
          <a:p xmlns:a="http://schemas.openxmlformats.org/drawingml/2006/main">
            <a:pPr>
              <a:defRPr sz="1950" b="0">
                <a:solidFill>
                  <a:srgbClr val="586744"/>
                </a:solidFill>
                <a:latin typeface="Consolas"/>
                <a:ea typeface="Consolas"/>
                <a:cs typeface="Consolas"/>
              </a:defRPr>
            </a:pPr>
            <a:r>
              <a:rPr sz="1950" b="0">
                <a:solidFill>
                  <a:srgbClr val="586744"/>
                </a:solidFill>
                <a:latin typeface="Consolas"/>
                <a:ea typeface="Consolas"/>
                <a:cs typeface="Consolas"/>
              </a:rPr>
              <a:t>    raise ValidationError("At most two decimals.")</a:t>
            </a:r>
          </a:p>
          <a:p xmlns:a="http://schemas.openxmlformats.org/drawingml/2006/main">
            <a:pPr>
              <a:defRPr sz="1950" b="0">
                <a:solidFill>
                  <a:srgbClr val="586744"/>
                </a:solidFill>
                <a:latin typeface="Consolas"/>
                <a:ea typeface="Consolas"/>
                <a:cs typeface="Consolas"/>
              </a:defRPr>
            </a:pPr>
            <a:r>
              <a:rPr sz="1950" b="0">
                <a:solidFill>
                  <a:srgbClr val="586744"/>
                </a:solidFill>
                <a:latin typeface="Consolas"/>
                <a:ea typeface="Consolas"/>
                <a:cs typeface="Consolas"/>
              </a:rPr>
              <a:t>return int(amount * 100)</a:t>
            </a:r>
          </a:p>
        </p:txBody>
      </p:sp>
      <p:sp>
        <p:nvSpPr>
          <p:cNvPr id="6" name="">
            <a:extLst xmlns:a="http://schemas.openxmlformats.org/drawingml/2006/main">
              <a:ext uri="{FF2B5EF4-FFF2-40B4-BE49-F238E27FC236}">
                <a16:creationId xmlns:a16="http://schemas.microsoft.com/office/drawing/2014/main" id="{02383FF0-4355-4F4A-88B0-99F81ED4C139}"/>
              </a:ext>
            </a:extLst>
          </p:cNvPr>
          <p:cNvSpPr>
            <a:spLocks xmlns:a="http://schemas.openxmlformats.org/drawingml/2006/main" noGrp="1"/>
          </p:cNvSpPr>
          <p:nvPr/>
        </p:nvSpPr>
        <p:spPr>
          <a:xfrm xmlns:a="http://schemas.openxmlformats.org/drawingml/2006/main">
            <a:off x="628650" y="4191000"/>
            <a:ext cx="666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263322"/>
                </a:solidFill>
                <a:latin typeface="Segoe UI"/>
                <a:ea typeface="Segoe UI"/>
                <a:cs typeface="Segoe UI"/>
              </a:defRPr>
            </a:defPPr>
          </a:lstStyle>
          <a:p xmlns:a="http://schemas.openxmlformats.org/drawingml/2006/main">
            <a:pPr>
              <a:defRPr sz="2400" b="1">
                <a:solidFill>
                  <a:srgbClr val="263322"/>
                </a:solidFill>
                <a:latin typeface="Segoe UI"/>
                <a:ea typeface="Segoe UI"/>
                <a:cs typeface="Segoe UI"/>
              </a:defRPr>
            </a:pPr>
            <a:r>
              <a:rPr sz="2400" b="1">
                <a:solidFill>
                  <a:srgbClr val="263322"/>
                </a:solidFill>
                <a:latin typeface="Segoe UI"/>
                <a:ea typeface="Segoe UI"/>
                <a:cs typeface="Segoe UI"/>
              </a:rPr>
              <a:t>0.10 + 0.20 = 30 cents</a:t>
            </a:r>
          </a:p>
        </p:txBody>
      </p:sp>
      <p:sp>
        <p:nvSpPr>
          <p:cNvPr id="7" name="">
            <a:extLst xmlns:a="http://schemas.openxmlformats.org/drawingml/2006/main">
              <a:ext uri="{FF2B5EF4-FFF2-40B4-BE49-F238E27FC236}">
                <a16:creationId xmlns:a16="http://schemas.microsoft.com/office/drawing/2014/main" id="{BBE29078-14D7-4435-BF62-A226D847444B}"/>
              </a:ext>
            </a:extLst>
          </p:cNvPr>
          <p:cNvSpPr>
            <a:spLocks xmlns:a="http://schemas.openxmlformats.org/drawingml/2006/main" noGrp="1"/>
          </p:cNvSpPr>
          <p:nvPr/>
        </p:nvSpPr>
        <p:spPr>
          <a:xfrm xmlns:a="http://schemas.openxmlformats.org/drawingml/2006/main">
            <a:off x="628650" y="4857750"/>
            <a:ext cx="10763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6F7868"/>
                </a:solidFill>
                <a:latin typeface="Segoe UI"/>
                <a:ea typeface="Segoe UI"/>
                <a:cs typeface="Segoe UI"/>
              </a:defRPr>
            </a:defPPr>
          </a:lstStyle>
          <a:p xmlns:a="http://schemas.openxmlformats.org/drawingml/2006/main">
            <a:pPr>
              <a:defRPr sz="2025" b="0">
                <a:solidFill>
                  <a:srgbClr val="6F7868"/>
                </a:solidFill>
                <a:latin typeface="Segoe UI"/>
                <a:ea typeface="Segoe UI"/>
                <a:cs typeface="Segoe UI"/>
              </a:defRPr>
            </a:pPr>
            <a:r>
              <a:rPr sz="2025" b="0">
                <a:solidFill>
                  <a:srgbClr val="6F7868"/>
                </a:solidFill>
                <a:latin typeface="Segoe UI"/>
                <a:ea typeface="Segoe UI"/>
                <a:cs typeface="Segoe UI"/>
              </a:rPr>
              <a:t>Bound SQL parameters</a:t>
            </a:r>
          </a:p>
          <a:p xmlns:a="http://schemas.openxmlformats.org/drawingml/2006/main">
            <a:pPr>
              <a:defRPr sz="2025" b="0">
                <a:solidFill>
                  <a:srgbClr val="6F7868"/>
                </a:solidFill>
                <a:latin typeface="Segoe UI"/>
                <a:ea typeface="Segoe UI"/>
                <a:cs typeface="Segoe UI"/>
              </a:defRPr>
            </a:pPr>
            <a:r>
              <a:rPr sz="2025" b="0">
                <a:solidFill>
                  <a:srgbClr val="6F7868"/>
                </a:solidFill>
                <a:latin typeface="Segoe UI"/>
                <a:ea typeface="Segoe UI"/>
                <a:cs typeface="Segoe UI"/>
              </a:rPr>
              <a:t>Foreign keys and CHECK constraints</a:t>
            </a:r>
          </a:p>
          <a:p xmlns:a="http://schemas.openxmlformats.org/drawingml/2006/main">
            <a:pPr>
              <a:defRPr sz="2025" b="0">
                <a:solidFill>
                  <a:srgbClr val="6F7868"/>
                </a:solidFill>
                <a:latin typeface="Segoe UI"/>
                <a:ea typeface="Segoe UI"/>
                <a:cs typeface="Segoe UI"/>
              </a:defRPr>
            </a:pPr>
            <a:r>
              <a:rPr sz="2025" b="0">
                <a:solidFill>
                  <a:srgbClr val="6F7868"/>
                </a:solidFill>
                <a:latin typeface="Segoe UI"/>
                <a:ea typeface="Segoe UI"/>
                <a:cs typeface="Segoe UI"/>
              </a:rPr>
              <a:t>Atomic record and alert saves</a:t>
            </a:r>
          </a:p>
        </p:txBody>
      </p:sp>
    </p:spTree>
    <p:extLst>
      <p:ext uri="{BB962C8B-B14F-4D97-AF65-F5344CB8AC3E}">
        <p14:creationId xmlns:p14="http://schemas.microsoft.com/office/powerpoint/2010/main" val="177134169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92999F5-0895-48DD-A867-3C333F5D7D02}"/>
              </a:ext>
            </a:extLst>
          </p:cNvPr>
          <p:cNvSpPr>
            <a:spLocks xmlns:a="http://schemas.openxmlformats.org/drawingml/2006/main" noGrp="1"/>
          </p:cNvSpPr>
          <p:nvPr/>
        </p:nvSpPr>
        <p:spPr>
          <a:xfrm xmlns:a="http://schemas.openxmlformats.org/drawingml/2006/main">
            <a:off x="609600" y="457200"/>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263322"/>
                </a:solidFill>
                <a:latin typeface="Segoe UI"/>
                <a:ea typeface="Segoe UI"/>
                <a:cs typeface="Segoe UI"/>
              </a:defRPr>
            </a:defPPr>
          </a:lstStyle>
          <a:p xmlns:a="http://schemas.openxmlformats.org/drawingml/2006/main">
            <a:pPr>
              <a:defRPr sz="3300" b="1">
                <a:solidFill>
                  <a:srgbClr val="263322"/>
                </a:solidFill>
                <a:latin typeface="Segoe UI"/>
                <a:ea typeface="Segoe UI"/>
                <a:cs typeface="Segoe UI"/>
              </a:defRPr>
            </a:pPr>
            <a:r>
              <a:rPr sz="3300" b="1">
                <a:solidFill>
                  <a:srgbClr val="263322"/>
                </a:solidFill>
                <a:latin typeface="Segoe UI"/>
                <a:ea typeface="Segoe UI"/>
                <a:cs typeface="Segoe UI"/>
              </a:rPr>
              <a:t>Explainable alerts</a:t>
            </a:r>
          </a:p>
        </p:txBody>
      </p:sp>
      <p:sp>
        <p:nvSpPr>
          <p:cNvPr id="2" name="">
            <a:extLst xmlns:a="http://schemas.openxmlformats.org/drawingml/2006/main">
              <a:ext uri="{FF2B5EF4-FFF2-40B4-BE49-F238E27FC236}">
                <a16:creationId xmlns:a16="http://schemas.microsoft.com/office/drawing/2014/main" id="{CBC20B88-6D3E-44C2-801C-83B5455CC02C}"/>
              </a:ext>
            </a:extLst>
          </p:cNvPr>
          <p:cNvSpPr>
            <a:spLocks xmlns:a="http://schemas.openxmlformats.org/drawingml/2006/main" noGrp="1"/>
          </p:cNvSpPr>
          <p:nvPr/>
        </p:nvSpPr>
        <p:spPr>
          <a:xfrm xmlns:a="http://schemas.openxmlformats.org/drawingml/2006/main">
            <a:off x="609600" y="6334125"/>
            <a:ext cx="476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586744"/>
                </a:solidFill>
                <a:latin typeface="Segoe UI"/>
                <a:ea typeface="Segoe UI"/>
                <a:cs typeface="Segoe UI"/>
              </a:defRPr>
            </a:defPPr>
          </a:lstStyle>
          <a:p xmlns:a="http://schemas.openxmlformats.org/drawingml/2006/main">
            <a:pPr>
              <a:defRPr sz="1200" b="1">
                <a:solidFill>
                  <a:srgbClr val="586744"/>
                </a:solidFill>
                <a:latin typeface="Segoe UI"/>
                <a:ea typeface="Segoe UI"/>
                <a:cs typeface="Segoe UI"/>
              </a:defRPr>
            </a:pPr>
            <a:r>
              <a:rPr sz="1200" b="1">
                <a:solidFill>
                  <a:srgbClr val="586744"/>
                </a:solidFill>
                <a:latin typeface="Segoe UI"/>
                <a:ea typeface="Segoe UI"/>
                <a:cs typeface="Segoe UI"/>
              </a:rPr>
              <a:t>OLIVE LEDGER</a:t>
            </a:r>
          </a:p>
        </p:txBody>
      </p:sp>
      <p:sp>
        <p:nvSpPr>
          <p:cNvPr id="3" name="">
            <a:extLst xmlns:a="http://schemas.openxmlformats.org/drawingml/2006/main">
              <a:ext uri="{FF2B5EF4-FFF2-40B4-BE49-F238E27FC236}">
                <a16:creationId xmlns:a16="http://schemas.microsoft.com/office/drawing/2014/main" id="{954178C5-BD43-43B2-9D6C-098706EA94B6}"/>
              </a:ext>
            </a:extLst>
          </p:cNvPr>
          <p:cNvSpPr>
            <a:spLocks xmlns:a="http://schemas.openxmlformats.org/drawingml/2006/main" noGrp="1"/>
          </p:cNvSpPr>
          <p:nvPr/>
        </p:nvSpPr>
        <p:spPr>
          <a:xfrm xmlns:a="http://schemas.openxmlformats.org/drawingml/2006/main">
            <a:off x="11049000" y="63341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F7868"/>
                </a:solidFill>
                <a:latin typeface="Segoe UI"/>
                <a:ea typeface="Segoe UI"/>
                <a:cs typeface="Segoe UI"/>
              </a:defRPr>
            </a:defPPr>
          </a:lstStyle>
          <a:p xmlns:a="http://schemas.openxmlformats.org/drawingml/2006/main">
            <a:pPr>
              <a:defRPr sz="1200" b="0">
                <a:solidFill>
                  <a:srgbClr val="6F7868"/>
                </a:solidFill>
                <a:latin typeface="Segoe UI"/>
                <a:ea typeface="Segoe UI"/>
                <a:cs typeface="Segoe UI"/>
              </a:defRPr>
            </a:pPr>
            <a:r>
              <a:rPr sz="1200" b="0">
                <a:solidFill>
                  <a:srgbClr val="6F7868"/>
                </a:solidFill>
                <a:latin typeface="Segoe UI"/>
                <a:ea typeface="Segoe UI"/>
                <a:cs typeface="Segoe UI"/>
              </a:rPr>
              <a:t>05</a:t>
            </a:r>
          </a:p>
        </p:txBody>
      </p:sp>
      <p:sp>
        <p:nvSpPr>
          <p:cNvPr id="4" name="">
            <a:extLst xmlns:a="http://schemas.openxmlformats.org/drawingml/2006/main">
              <a:ext uri="{FF2B5EF4-FFF2-40B4-BE49-F238E27FC236}">
                <a16:creationId xmlns:a16="http://schemas.microsoft.com/office/drawing/2014/main" id="{D452EDF3-1170-453C-A1C6-D25A7935923B}"/>
              </a:ext>
            </a:extLst>
          </p:cNvPr>
          <p:cNvSpPr>
            <a:spLocks xmlns:a="http://schemas.openxmlformats.org/drawingml/2006/main" noGrp="1"/>
          </p:cNvSpPr>
          <p:nvPr/>
        </p:nvSpPr>
        <p:spPr>
          <a:xfrm xmlns:a="http://schemas.openxmlformats.org/drawingml/2006/main">
            <a:off x="628650" y="1438275"/>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586744"/>
                </a:solidFill>
                <a:latin typeface="Segoe UI"/>
                <a:ea typeface="Segoe UI"/>
                <a:cs typeface="Segoe UI"/>
              </a:defRPr>
            </a:defPPr>
          </a:lstStyle>
          <a:p xmlns:a="http://schemas.openxmlformats.org/drawingml/2006/main">
            <a:pPr>
              <a:defRPr sz="2250" b="1">
                <a:solidFill>
                  <a:srgbClr val="586744"/>
                </a:solidFill>
                <a:latin typeface="Segoe UI"/>
                <a:ea typeface="Segoe UI"/>
                <a:cs typeface="Segoe UI"/>
              </a:defRPr>
            </a:pPr>
            <a:r>
              <a:rPr sz="2250" b="1">
                <a:solidFill>
                  <a:srgbClr val="586744"/>
                </a:solidFill>
                <a:latin typeface="Segoe UI"/>
                <a:ea typeface="Segoe UI"/>
                <a:cs typeface="Segoe UI"/>
              </a:rPr>
              <a:t>A transparent category-based rule</a:t>
            </a:r>
          </a:p>
        </p:txBody>
      </p:sp>
      <p:sp>
        <p:nvSpPr>
          <p:cNvPr id="5" name="">
            <a:extLst xmlns:a="http://schemas.openxmlformats.org/drawingml/2006/main">
              <a:ext uri="{FF2B5EF4-FFF2-40B4-BE49-F238E27FC236}">
                <a16:creationId xmlns:a16="http://schemas.microsoft.com/office/drawing/2014/main" id="{23E59730-0CA1-4104-9AFE-06DD793BC878}"/>
              </a:ext>
            </a:extLst>
          </p:cNvPr>
          <p:cNvSpPr>
            <a:spLocks xmlns:a="http://schemas.openxmlformats.org/drawingml/2006/main" noGrp="1"/>
          </p:cNvSpPr>
          <p:nvPr/>
        </p:nvSpPr>
        <p:spPr>
          <a:xfrm xmlns:a="http://schemas.openxmlformats.org/drawingml/2006/main">
            <a:off x="628650" y="2066925"/>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86744"/>
                </a:solidFill>
                <a:latin typeface="Consolas"/>
                <a:ea typeface="Consolas"/>
                <a:cs typeface="Consolas"/>
              </a:defRPr>
            </a:defPPr>
          </a:lstStyle>
          <a:p xmlns:a="http://schemas.openxmlformats.org/drawingml/2006/main">
            <a:pPr>
              <a:defRPr sz="1875" b="0">
                <a:solidFill>
                  <a:srgbClr val="586744"/>
                </a:solidFill>
                <a:latin typeface="Consolas"/>
                <a:ea typeface="Consolas"/>
                <a:cs typeface="Consolas"/>
              </a:defRPr>
            </a:pPr>
            <a:r>
              <a:rPr sz="1875" b="0">
                <a:solidFill>
                  <a:srgbClr val="586744"/>
                </a:solidFill>
                <a:latin typeface="Consolas"/>
                <a:ea typeface="Consolas"/>
                <a:cs typeface="Consolas"/>
              </a:rPr>
              <a:t>if count &gt;= 3 and item["amount_cents"] * count &gt; total * 2:</a:t>
            </a:r>
          </a:p>
          <a:p xmlns:a="http://schemas.openxmlformats.org/drawingml/2006/main">
            <a:pPr>
              <a:defRPr sz="1875" b="0">
                <a:solidFill>
                  <a:srgbClr val="586744"/>
                </a:solidFill>
                <a:latin typeface="Consolas"/>
                <a:ea typeface="Consolas"/>
                <a:cs typeface="Consolas"/>
              </a:defRPr>
            </a:pPr>
            <a:r>
              <a:rPr sz="1875" b="0">
                <a:solidFill>
                  <a:srgbClr val="586744"/>
                </a:solidFill>
                <a:latin typeface="Consolas"/>
                <a:ea typeface="Consolas"/>
                <a:cs typeface="Consolas"/>
              </a:rPr>
              <a:t>    ...  # save an explained alert</a:t>
            </a:r>
          </a:p>
        </p:txBody>
      </p:sp>
      <p:sp>
        <p:nvSpPr>
          <p:cNvPr id="6" name="">
            <a:extLst xmlns:a="http://schemas.openxmlformats.org/drawingml/2006/main">
              <a:ext uri="{FF2B5EF4-FFF2-40B4-BE49-F238E27FC236}">
                <a16:creationId xmlns:a16="http://schemas.microsoft.com/office/drawing/2014/main" id="{A006C26E-A4DC-4237-87CD-DC791F46B139}"/>
              </a:ext>
            </a:extLst>
          </p:cNvPr>
          <p:cNvSpPr>
            <a:spLocks xmlns:a="http://schemas.openxmlformats.org/drawingml/2006/main" noGrp="1"/>
          </p:cNvSpPr>
          <p:nvPr/>
        </p:nvSpPr>
        <p:spPr>
          <a:xfrm xmlns:a="http://schemas.openxmlformats.org/drawingml/2006/main">
            <a:off x="628650" y="3209925"/>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63322"/>
                </a:solidFill>
                <a:latin typeface="Segoe UI"/>
                <a:ea typeface="Segoe UI"/>
                <a:cs typeface="Segoe UI"/>
              </a:defRPr>
            </a:defPPr>
          </a:lstStyle>
          <a:p xmlns:a="http://schemas.openxmlformats.org/drawingml/2006/main">
            <a:pPr>
              <a:defRPr sz="2100" b="0">
                <a:solidFill>
                  <a:srgbClr val="263322"/>
                </a:solidFill>
                <a:latin typeface="Segoe UI"/>
                <a:ea typeface="Segoe UI"/>
                <a:cs typeface="Segoe UI"/>
              </a:defRPr>
            </a:pPr>
            <a:r>
              <a:rPr sz="2100" b="0">
                <a:solidFill>
                  <a:srgbClr val="263322"/>
                </a:solidFill>
                <a:latin typeface="Segoe UI"/>
                <a:ea typeface="Segoe UI"/>
                <a:cs typeface="Segoe UI"/>
              </a:rPr>
              <a:t>Previous expenses only. The new expense is excluded.</a:t>
            </a:r>
          </a:p>
        </p:txBody>
      </p:sp>
      <p:sp>
        <p:nvSpPr>
          <p:cNvPr id="7" name="">
            <a:extLst xmlns:a="http://schemas.openxmlformats.org/drawingml/2006/main">
              <a:ext uri="{FF2B5EF4-FFF2-40B4-BE49-F238E27FC236}">
                <a16:creationId xmlns:a16="http://schemas.microsoft.com/office/drawing/2014/main" id="{5DA40B2E-1A3D-4777-8AD2-791A70D5EB8B}"/>
              </a:ext>
            </a:extLst>
          </p:cNvPr>
          <p:cNvSpPr>
            <a:spLocks xmlns:a="http://schemas.openxmlformats.org/drawingml/2006/main" noGrp="1"/>
          </p:cNvSpPr>
          <p:nvPr/>
        </p:nvSpPr>
        <p:spPr>
          <a:xfrm xmlns:a="http://schemas.openxmlformats.org/drawingml/2006/main">
            <a:off x="628650" y="3914775"/>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63322"/>
                </a:solidFill>
                <a:latin typeface="Segoe UI"/>
                <a:ea typeface="Segoe UI"/>
                <a:cs typeface="Segoe UI"/>
              </a:defRPr>
            </a:defPPr>
          </a:lstStyle>
          <a:p xmlns:a="http://schemas.openxmlformats.org/drawingml/2006/main">
            <a:pPr>
              <a:defRPr sz="2100" b="0">
                <a:solidFill>
                  <a:srgbClr val="263322"/>
                </a:solidFill>
                <a:latin typeface="Segoe UI"/>
                <a:ea typeface="Segoe UI"/>
                <a:cs typeface="Segoe UI"/>
              </a:defRPr>
            </a:pPr>
            <a:r>
              <a:rPr sz="2100" b="0">
                <a:solidFill>
                  <a:srgbClr val="263322"/>
                </a:solidFill>
                <a:latin typeface="Segoe UI"/>
                <a:ea typeface="Segoe UI"/>
                <a:cs typeface="Segoe UI"/>
              </a:rPr>
              <a:t>Budget warnings at 80% and 100%, once per threshold</a:t>
            </a:r>
          </a:p>
        </p:txBody>
      </p:sp>
      <p:sp>
        <p:nvSpPr>
          <p:cNvPr id="8" name="">
            <a:extLst xmlns:a="http://schemas.openxmlformats.org/drawingml/2006/main">
              <a:ext uri="{FF2B5EF4-FFF2-40B4-BE49-F238E27FC236}">
                <a16:creationId xmlns:a16="http://schemas.microsoft.com/office/drawing/2014/main" id="{DB85F43B-C25D-49C3-8976-7CB34BF5F6E1}"/>
              </a:ext>
            </a:extLst>
          </p:cNvPr>
          <p:cNvSpPr>
            <a:spLocks xmlns:a="http://schemas.openxmlformats.org/drawingml/2006/main" noGrp="1"/>
          </p:cNvSpPr>
          <p:nvPr/>
        </p:nvSpPr>
        <p:spPr>
          <a:xfrm xmlns:a="http://schemas.openxmlformats.org/drawingml/2006/main">
            <a:off x="628650" y="4762500"/>
            <a:ext cx="619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586744"/>
                </a:solidFill>
                <a:latin typeface="Segoe UI"/>
                <a:ea typeface="Segoe UI"/>
                <a:cs typeface="Segoe UI"/>
              </a:defRPr>
            </a:defPPr>
          </a:lstStyle>
          <a:p xmlns:a="http://schemas.openxmlformats.org/drawingml/2006/main">
            <a:pPr>
              <a:defRPr sz="2850" b="1">
                <a:solidFill>
                  <a:srgbClr val="586744"/>
                </a:solidFill>
                <a:latin typeface="Segoe UI"/>
                <a:ea typeface="Segoe UI"/>
                <a:cs typeface="Segoe UI"/>
              </a:defRPr>
            </a:pPr>
            <a:r>
              <a:rPr sz="2850" b="1">
                <a:solidFill>
                  <a:srgbClr val="586744"/>
                </a:solidFill>
                <a:latin typeface="Segoe UI"/>
                <a:ea typeface="Segoe UI"/>
                <a:cs typeface="Segoe UI"/>
              </a:rPr>
              <a:t>30 automated tests</a:t>
            </a:r>
          </a:p>
        </p:txBody>
      </p:sp>
      <p:sp>
        <p:nvSpPr>
          <p:cNvPr id="9" name="">
            <a:extLst xmlns:a="http://schemas.openxmlformats.org/drawingml/2006/main">
              <a:ext uri="{FF2B5EF4-FFF2-40B4-BE49-F238E27FC236}">
                <a16:creationId xmlns:a16="http://schemas.microsoft.com/office/drawing/2014/main" id="{3F3D07A7-FD6E-4C49-9C22-144A3B396AEE}"/>
              </a:ext>
            </a:extLst>
          </p:cNvPr>
          <p:cNvSpPr>
            <a:spLocks xmlns:a="http://schemas.openxmlformats.org/drawingml/2006/main" noGrp="1"/>
          </p:cNvSpPr>
          <p:nvPr/>
        </p:nvSpPr>
        <p:spPr>
          <a:xfrm xmlns:a="http://schemas.openxmlformats.org/drawingml/2006/main">
            <a:off x="628650" y="534352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6F7868"/>
                </a:solidFill>
                <a:latin typeface="Segoe UI"/>
                <a:ea typeface="Segoe UI"/>
                <a:cs typeface="Segoe UI"/>
              </a:defRPr>
            </a:defPPr>
          </a:lstStyle>
          <a:p xmlns:a="http://schemas.openxmlformats.org/drawingml/2006/main">
            <a:pPr>
              <a:defRPr sz="1950" b="0">
                <a:solidFill>
                  <a:srgbClr val="6F7868"/>
                </a:solidFill>
                <a:latin typeface="Segoe UI"/>
                <a:ea typeface="Segoe UI"/>
                <a:cs typeface="Segoe UI"/>
              </a:defRPr>
            </a:pPr>
            <a:r>
              <a:rPr sz="1950" b="0">
                <a:solidFill>
                  <a:srgbClr val="6F7868"/>
                </a:solidFill>
                <a:latin typeface="Segoe UI"/>
                <a:ea typeface="Segoe UI"/>
                <a:cs typeface="Segoe UI"/>
              </a:rPr>
              <a:t>CLI, setup instructions and public repository</a:t>
            </a:r>
          </a:p>
        </p:txBody>
      </p:sp>
      <p:sp>
        <p:nvSpPr>
          <p:cNvPr id="10" name="">
            <a:extLst xmlns:a="http://schemas.openxmlformats.org/drawingml/2006/main">
              <a:ext uri="{FF2B5EF4-FFF2-40B4-BE49-F238E27FC236}">
                <a16:creationId xmlns:a16="http://schemas.microsoft.com/office/drawing/2014/main" id="{3FE256A2-1784-4F0C-A99D-ED3CE91F4866}"/>
              </a:ext>
            </a:extLst>
          </p:cNvPr>
          <p:cNvSpPr>
            <a:spLocks xmlns:a="http://schemas.openxmlformats.org/drawingml/2006/main" noGrp="1"/>
          </p:cNvSpPr>
          <p:nvPr/>
        </p:nvSpPr>
        <p:spPr>
          <a:xfrm xmlns:a="http://schemas.openxmlformats.org/drawingml/2006/main">
            <a:off x="628650" y="5819775"/>
            <a:ext cx="1085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86744"/>
                </a:solidFill>
                <a:latin typeface="Segoe UI"/>
                <a:ea typeface="Segoe UI"/>
                <a:cs typeface="Segoe UI"/>
              </a:defRPr>
            </a:defPPr>
          </a:lstStyle>
          <a:p xmlns:a="http://schemas.openxmlformats.org/drawingml/2006/main">
            <a:pPr>
              <a:defRPr sz="1650" b="0">
                <a:solidFill>
                  <a:srgbClr val="586744"/>
                </a:solidFill>
                <a:latin typeface="Segoe UI"/>
                <a:ea typeface="Segoe UI"/>
                <a:cs typeface="Segoe UI"/>
              </a:defRPr>
            </a:pPr>
            <a:r>
              <a:rPr sz="1650" b="0">
                <a:solidFill>
                  <a:srgbClr val="586744"/>
                </a:solidFill>
                <a:latin typeface="Segoe UI"/>
                <a:ea typeface="Segoe UI"/>
                <a:cs typeface="Segoe UI"/>
              </a:rPr>
              <a:t>github.com/IIICROWIII/smart-expense-manager</a:t>
            </a:r>
          </a:p>
        </p:txBody>
      </p:sp>
    </p:spTree>
    <p:extLst>
      <p:ext uri="{BB962C8B-B14F-4D97-AF65-F5344CB8AC3E}">
        <p14:creationId xmlns:p14="http://schemas.microsoft.com/office/powerpoint/2010/main" val="17163976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2026-10-13T18:14:20.3320000Z</dcterms:created>
  <dcterms:modified xsi:type="dcterms:W3CDTF">2026-10-13T18:14:20.3320000Z</dcterms:modified>
</coreProperties>
</file>